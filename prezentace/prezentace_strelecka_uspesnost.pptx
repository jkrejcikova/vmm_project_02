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22222"/>
                </a:solidFill>
              </a:rPr>
              <a:t>Střelecká úspěšnost ve fotbale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601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88888"/>
                </a:solidFill>
              </a:rPr>
              <a:t>Vícerozměrná statistická analýza dat střel z anglické Premier League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971800"/>
            <a:ext cx="7616952" cy="2286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44444"/>
                </a:solidFill>
              </a:rPr>
              <a:t>VUT Brno  –  Vícerozměrné statistické metody (VMM)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60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8888"/>
                </a:solidFill>
              </a:rPr>
              <a:t>Akademický rok 2026/27   |   Semestrální projekt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309360"/>
            <a:ext cx="103601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</a:rPr>
              <a:t>Dataset: shots_outcome_Final.csv   |   Zdroj: understat.com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53796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</a:rPr>
              <a:t>Popis datasetu a cíl analýzy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8368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shots_outcome_Final.csv – Premier League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11548872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444444"/>
                </a:solidFill>
              </a:rPr>
              <a:t>▸  Dataset: střely z anglické Premier League (sezóny 2020–2022)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444444"/>
                </a:solidFill>
              </a:rPr>
              <a:t>▸  1 000 záznamů (po vyřazení OwnGoal: 998 střel, 734 se souřadnicemi)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444444"/>
                </a:solidFill>
              </a:rPr>
              <a:t>▸  Cílová proměnná: Gól = 1 / ostatní výsledky = 0  (podíl gólů ≈ 9 %)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444444"/>
                </a:solidFill>
              </a:rPr>
              <a:t>▸  Sledované proměnné: X, Y, xG, vzdálenost, úhel, minuta, typ zakončení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444444"/>
                </a:solidFill>
              </a:rPr>
              <a:t>▸  Vyřazena metadata: id, player_id, match_id, datum, názvy týmů</a:t>
            </a:r>
          </a:p>
        </p:txBody>
      </p:sp>
      <p:sp>
        <p:nvSpPr>
          <p:cNvPr id="6" name="Rectangle 5"/>
          <p:cNvSpPr/>
          <p:nvPr/>
        </p:nvSpPr>
        <p:spPr>
          <a:xfrm>
            <a:off x="5989320" y="1024128"/>
            <a:ext cx="2240280" cy="329184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0" y="1042415"/>
            <a:ext cx="2148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Proměnná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0" y="1024128"/>
            <a:ext cx="2194560" cy="329184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042415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Popis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78440" y="1024128"/>
            <a:ext cx="1600200" cy="329184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1042415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Typ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353312"/>
            <a:ext cx="2240280" cy="4572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44183" y="1389888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X, 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353312"/>
            <a:ext cx="2194560" cy="4572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389888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Souřadnice střely (0–100)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78440" y="1353312"/>
            <a:ext cx="1600200" cy="4572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33304" y="1389888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Numerická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1856232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44183" y="1892808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dist_m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856232"/>
            <a:ext cx="219456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4464" y="1892808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Vzdálenost od branky (odvozená)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78440" y="1856232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33304" y="1892808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Numerická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359152"/>
            <a:ext cx="2240280" cy="4572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44183" y="2395728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angle_deg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2359152"/>
            <a:ext cx="2194560" cy="4572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84464" y="2395728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Střelecký úhel (odvozený)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78440" y="2359152"/>
            <a:ext cx="1600200" cy="4572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33304" y="2395728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Numerická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9320" y="2862072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98648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xG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2862072"/>
            <a:ext cx="219456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84464" y="2898648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Očekávaná pravděpodobnost gólu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78440" y="2862072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33304" y="2898648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Numerická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89320" y="3364992"/>
            <a:ext cx="2240280" cy="4572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44183" y="3401568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minute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3364992"/>
            <a:ext cx="2194560" cy="4572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84464" y="3401568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Minuta zápasu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378440" y="3364992"/>
            <a:ext cx="1600200" cy="4572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33304" y="3401568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Numerická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89320" y="3867912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44183" y="3904487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shotType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3867912"/>
            <a:ext cx="219456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84464" y="3904487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 zakončení (Foot / Head)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3867912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33304" y="3904487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Kategorická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89320" y="4370832"/>
            <a:ext cx="2240280" cy="4572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44183" y="4407408"/>
            <a:ext cx="2148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goal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4370832"/>
            <a:ext cx="2194560" cy="4572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84464" y="4407408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Cílová proměnná (1 = gól)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378440" y="4370832"/>
            <a:ext cx="1600200" cy="4572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33304" y="4407408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Binární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84280" y="653796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</a:rPr>
              <a:t>Předzpracování dat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8368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Čistění, škálování, pravidlo 3-sigma, mapa střel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11548872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X, Y: škálování ×100 → fotbalové hřiště 100 × 100 jednotek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Odvozeny: vzdálenost od branky (dist_m)  a  střelecký úhel (angle_deg)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Chybějící X, Y: řádky vynechány (imputace průměrem by vytvořila falešné střely)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Kategorické NaN: nahrazeny hodnotou „Bez asistence" / „Neznamy"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Pravidlo 3-sigma: 1 odlehlá střela vyřazena (|Z(dist_m)| &gt; 3)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Finální analytická sada: n = 734 střel se souřadnicemi</a:t>
            </a:r>
          </a:p>
        </p:txBody>
      </p:sp>
      <p:pic>
        <p:nvPicPr>
          <p:cNvPr id="6" name="Picture 5" descr="01_mapa_str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987552"/>
            <a:ext cx="6903720" cy="48348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384280" y="653796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</a:rPr>
              <a:t>Diagnostika normality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8368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Shapiro-Wilk, Q-Q graf, Mahalanobis D²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11548872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normalita_histogramy_q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87552"/>
            <a:ext cx="7498079" cy="32107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55279" y="1051560"/>
            <a:ext cx="4114800" cy="804672"/>
          </a:xfrm>
          <a:prstGeom prst="rect">
            <a:avLst/>
          </a:prstGeom>
          <a:solidFill>
            <a:srgbClr val="FDEEEE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65007" y="1115568"/>
            <a:ext cx="389534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 b="0">
                <a:solidFill>
                  <a:srgbClr val="444444"/>
                </a:solidFill>
              </a:rPr>
              <a:t>H₀: xG pochází z normálního rozdělení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888888"/>
                </a:solidFill>
              </a:rPr>
              <a:t>p = 6,3 × 10⁻³⁹   |   α = 0,05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C02020"/>
                </a:solidFill>
              </a:rPr>
              <a:t>✕  H₀ ZAMÍTÁME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965960"/>
            <a:ext cx="4114800" cy="804672"/>
          </a:xfrm>
          <a:prstGeom prst="rect">
            <a:avLst/>
          </a:prstGeom>
          <a:solidFill>
            <a:srgbClr val="FDEEEE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65007" y="2029967"/>
            <a:ext cx="389534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 b="0">
                <a:solidFill>
                  <a:srgbClr val="444444"/>
                </a:solidFill>
              </a:rPr>
              <a:t>H₀: dist_m pochází z normálního rozdělení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888888"/>
                </a:solidFill>
              </a:rPr>
              <a:t>p = 7,2 × 10⁻⁷   |   α = 0,05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C02020"/>
                </a:solidFill>
              </a:rPr>
              <a:t>✕  H₀ ZAMÍTÁME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2880360"/>
            <a:ext cx="4114800" cy="804672"/>
          </a:xfrm>
          <a:prstGeom prst="rect">
            <a:avLst/>
          </a:prstGeom>
          <a:solidFill>
            <a:srgbClr val="FDEEEE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7" y="2944368"/>
            <a:ext cx="389534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 b="0">
                <a:solidFill>
                  <a:srgbClr val="444444"/>
                </a:solidFill>
              </a:rPr>
              <a:t>H₀: angle_deg pochází z normálního rozdělení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888888"/>
                </a:solidFill>
              </a:rPr>
              <a:t>p = 6,3 × 10⁻²⁹   |   α = 0,05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C02020"/>
                </a:solidFill>
              </a:rPr>
              <a:t>✕  H₀ ZAMÍTÁME</a:t>
            </a:r>
          </a:p>
        </p:txBody>
      </p:sp>
      <p:pic>
        <p:nvPicPr>
          <p:cNvPr id="12" name="Picture 11" descr="02b_mahal_chisq_q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3749039"/>
            <a:ext cx="4114800" cy="382455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55279" y="56235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2020"/>
                </a:solidFill>
              </a:rPr>
              <a:t>→ Normalita porušena u všech proměnných
   → Robustní metody: Welch ANOVA, Spearman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53796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</a:rPr>
              <a:t>Vztahy mezi proměnnými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8368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Spearmanova korelační analýza (robustní vůči non-normalitě)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11548872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korelacni_heat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87552"/>
            <a:ext cx="7315200" cy="64423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05156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H₀: Korelace = 0   |   H₁: Korelace ≠ 0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xG ↔ dist_m:   r = −0,73  (čím blíže, tím vyšší xG)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xG ↔ angle_deg:   r = +0,44  (větší úhel = lepší pozice)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X ↔ dist_m:   r = −0,79  (bližší k brance = kratší vzdálenost)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Y a minute:  bez výrazné korelace (r &lt; 0,1)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Všechny páry: p &lt; 0,001 → H₀ ZAMÍTÁME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</a:rPr>
              <a:t>Rozdíly dle typu zakončení – Welchova ANOVA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8368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Výzkumná otázka: Liší se geometrie střely pro Foot vs. Head?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11548872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boxploty_shot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87552"/>
            <a:ext cx="7772400" cy="32796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1051560"/>
            <a:ext cx="3931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Skupiny: RightFoot (n=285), LeftFoot (n=272), Head (n=48)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H₀: Střední hodnoty jsou ve skupinách shodné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Welchova ANOVA – robustní vůči heteroskedasticitě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dist_m:    F = 193,0,  p &lt; 0,001  →  H₀ ZAMÍTÁME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angle_deg: F = 39,1,   p &lt; 0,001  →  H₀ ZAMÍTÁME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444444"/>
                </a:solidFill>
              </a:rPr>
              <a:t>▸  → Hlavičky stříleny z větší vzdálenosti a horšího úhlu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</a:rPr>
              <a:t>MANOVA a Tukeyho post-hoc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8368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Vícerozměrné porovnání skupin – sdružený test (dist_m + angle_deg)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11548872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6858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444444"/>
                </a:solidFill>
              </a:rPr>
              <a:t>▸  MANOVA zachycuje korelaci mezi dist_m a angle_deg → silnější test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444444"/>
                </a:solidFill>
              </a:rPr>
              <a:t>▸  H₀: Vektory středních hodnot jsou pro všechny skupiny shodné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444444"/>
                </a:solidFill>
              </a:rPr>
              <a:t>▸  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444444"/>
                </a:solidFill>
              </a:rPr>
              <a:t>▸  Wilksova lambda:  p = 4,4 × 10⁻²⁷  →  H₀ ZAMÍTÁME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743200"/>
            <a:ext cx="6858000" cy="804672"/>
          </a:xfrm>
          <a:prstGeom prst="rect">
            <a:avLst/>
          </a:prstGeom>
          <a:solidFill>
            <a:srgbClr val="FDEEEE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" y="2807208"/>
            <a:ext cx="663854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 b="0">
                <a:solidFill>
                  <a:srgbClr val="444444"/>
                </a:solidFill>
              </a:rPr>
              <a:t>H₀: Vektory středních hodnot (dist_m, angle_deg) jsou shodné (MANOVA)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888888"/>
                </a:solidFill>
              </a:rPr>
              <a:t>p = 4,4 × 10⁻²⁷ (Wilks λ)   |   α = 0,05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C02020"/>
                </a:solidFill>
              </a:rPr>
              <a:t>✕  H₀ ZAMÍTÁME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49039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2222"/>
                </a:solidFill>
              </a:rPr>
              <a:t>Tukeyho HSD post-hoc test – konkrétní páry: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178808"/>
            <a:ext cx="6858000" cy="621792"/>
          </a:xfrm>
          <a:prstGeom prst="rect">
            <a:avLst/>
          </a:prstGeom>
          <a:solidFill>
            <a:srgbClr val="FDEEEE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233672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Head  vs.  LeftFoot   dist_m: Δ = +10,2 j.   angle: Δ = −21,4°   p &lt; 0,001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882896"/>
            <a:ext cx="6858000" cy="621792"/>
          </a:xfrm>
          <a:prstGeom prst="rect">
            <a:avLst/>
          </a:prstGeom>
          <a:solidFill>
            <a:srgbClr val="FDEEEE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937760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Head  vs.  RightFoot   dist_m: Δ = +11,1 j.   angle: Δ = −22,0°   p &lt; 0,001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586984"/>
            <a:ext cx="6858000" cy="621792"/>
          </a:xfrm>
          <a:prstGeom prst="rect">
            <a:avLst/>
          </a:prstGeom>
          <a:solidFill>
            <a:srgbClr val="EEF8EE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641848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LeftFoot  vs.  RightFoot   dist_m: Δ ≈ 0,9 j.   angle: Δ ≈ −0,7°   p = 0,22 / 0,83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3550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888888"/>
                </a:solidFill>
              </a:rPr>
              <a:t>→  Zakončení nohou (pravou vs. levou): bez statisticky významného rozdílu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888888"/>
                </a:solidFill>
              </a:rPr>
              <a:t>→  Zakončení hlavou: výrazně větší vzdálenost, menší úhel → nižší šance na gól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53796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</a:rPr>
              <a:t>Redukce dimenzionality – 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8368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Bartlettův test sférickosti, KMO, Scree plot, biplot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11548872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scree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0"/>
            <a:ext cx="5669280" cy="3863690"/>
          </a:xfrm>
          <a:prstGeom prst="rect">
            <a:avLst/>
          </a:prstGeom>
        </p:spPr>
      </p:pic>
      <p:pic>
        <p:nvPicPr>
          <p:cNvPr id="6" name="Picture 5" descr="05b_biplot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5943600" cy="482447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0040" y="4800600"/>
            <a:ext cx="5669280" cy="777240"/>
          </a:xfrm>
          <a:prstGeom prst="rect">
            <a:avLst/>
          </a:prstGeom>
          <a:solidFill>
            <a:srgbClr val="FDEEEE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4864608"/>
            <a:ext cx="544982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 b="0">
                <a:solidFill>
                  <a:srgbClr val="444444"/>
                </a:solidFill>
              </a:rPr>
              <a:t>H₀: Korelační matice je jednotková – PCA nevhodná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888888"/>
                </a:solidFill>
              </a:rPr>
              <a:t>p = ≈ 0 (χ² = 2041, df = 15)   |   α = 0,05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C02020"/>
                </a:solidFill>
              </a:rPr>
              <a:t>✕  H₀ ZAMÍTÁME → PCA vhodná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75488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444444"/>
                </a:solidFill>
              </a:rPr>
              <a:t>▸  KMO = 0,62  (přijatelné pro PCA)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444444"/>
                </a:solidFill>
              </a:rPr>
              <a:t>▸  Kaiserovo pravidlo (λ &gt; 1): 2 hlavní komponenty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444444"/>
                </a:solidFill>
              </a:rPr>
              <a:t>▸  PC1 ≈ „osa kvality pozice" (xG, dist_m, angle_deg)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444444"/>
                </a:solidFill>
              </a:rPr>
              <a:t>▸  PC1 + PC2: vysvětlují ~ 70 % celkového rozptylu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53796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</a:rPr>
              <a:t>Shluková analýza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8368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Hierarchické shlukování (Ward) + K-means k = 2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11548872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dend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0"/>
            <a:ext cx="5669280" cy="2914821"/>
          </a:xfrm>
          <a:prstGeom prst="rect">
            <a:avLst/>
          </a:prstGeom>
        </p:spPr>
      </p:pic>
      <p:pic>
        <p:nvPicPr>
          <p:cNvPr id="6" name="Picture 5" descr="06b_mapa_shluk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5943600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" y="4846320"/>
            <a:ext cx="11795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444444"/>
                </a:solidFill>
              </a:rPr>
              <a:t>▸  H₀: Střely tvoří homogenní rozdělení (žádné shluky)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444444"/>
                </a:solidFill>
              </a:rPr>
              <a:t>▸  Wardův dendrogram: přirozený řez na k = 2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444444"/>
                </a:solidFill>
              </a:rPr>
              <a:t>▸  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444444"/>
                </a:solidFill>
              </a:rPr>
              <a:t>▸  Shluk 1 – Blízká střela (vápno):  průměrná vzdálenost ≈ 13 j.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444444"/>
                </a:solidFill>
              </a:rPr>
              <a:t>▸     → Vyšší xG, větší střelecký úhel, vyšší % gólů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444444"/>
                </a:solidFill>
              </a:rPr>
              <a:t>▸  Shluk 2 – Střelba z dálky:  průměrná vzdálenost ≈ 25 j.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444444"/>
                </a:solidFill>
              </a:rPr>
              <a:t>▸     → Nízká xG, malý úhel, nízké % gólů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444444"/>
                </a:solidFill>
              </a:rPr>
              <a:t>▸  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444444"/>
                </a:solidFill>
              </a:rPr>
              <a:t>▸  → H₁ potvrzena: data mají přirozenou shlukovou strukturu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53796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</a:rPr>
              <a:t>Predikce gólu – logistická regrese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8368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Binární cíl: gól (1) / bez gólu (0)  |  Prediktory: dist_m, angle_deg, xG, minute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11548872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roc_kriv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0"/>
            <a:ext cx="5303520" cy="4646198"/>
          </a:xfrm>
          <a:prstGeom prst="rect">
            <a:avLst/>
          </a:prstGeom>
        </p:spPr>
      </p:pic>
      <p:pic>
        <p:nvPicPr>
          <p:cNvPr id="6" name="Picture 5" descr="07b_forest_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005840"/>
            <a:ext cx="6309360" cy="311076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0040" y="5029200"/>
            <a:ext cx="11521440" cy="777240"/>
          </a:xfrm>
          <a:prstGeom prst="rect">
            <a:avLst/>
          </a:prstGeom>
          <a:solidFill>
            <a:srgbClr val="FDEEEE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5093208"/>
            <a:ext cx="113019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 b="0">
                <a:solidFill>
                  <a:srgbClr val="444444"/>
                </a:solidFill>
              </a:rPr>
              <a:t>H₀: Žádný parametr neovlivňuje šanci na gól (všechna β = 0)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888888"/>
                </a:solidFill>
              </a:rPr>
              <a:t>p = &lt; 0,001 (LRT)   |   α = 0,05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C02020"/>
                </a:solidFill>
              </a:rPr>
              <a:t>✕  H₀ ZAMÍTÁME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5897880"/>
            <a:ext cx="11521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00">
                <a:solidFill>
                  <a:srgbClr val="444444"/>
                </a:solidFill>
              </a:rPr>
              <a:t>▸  AUC = 0,78  →  model výrazně lepší než náhodný odhad (0,50)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444444"/>
                </a:solidFill>
              </a:rPr>
              <a:t>▸  xG (OR ≈ 76):  nejsilnější prediktor – jak se fyzikálně očekávalo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444444"/>
                </a:solidFill>
              </a:rPr>
              <a:t>▸  dist_m (OR ≈ 0,92):  větší vzdálenost → nižší šance na gól  (p = 0,029)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444444"/>
                </a:solidFill>
              </a:rPr>
              <a:t>▸  minute (OR ≈ 1,01):  gól mírně pravděpodobnější v pozdějších minutách (p = 0,022)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53796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</a:rPr>
              <a:t>Souhrnná tabulka testovaných hypotéz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8368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Přehled všech statistických testů  |  α = 0,05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11548872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2423160" cy="3200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" y="1024128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005840"/>
            <a:ext cx="3520440" cy="3200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79776" y="1024128"/>
            <a:ext cx="3447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H₀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005840"/>
            <a:ext cx="1508760" cy="3200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1024128"/>
            <a:ext cx="143560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p-hodnota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1005840"/>
            <a:ext cx="1325880" cy="3200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0415" y="1024128"/>
            <a:ext cx="1252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005840"/>
            <a:ext cx="1691640" cy="3200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72015" y="1024128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Verdikt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0" y="1005840"/>
            <a:ext cx="914400" cy="3200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9376" y="1024128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325880"/>
            <a:ext cx="242316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1371600"/>
            <a:ext cx="2350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Shapiro-Wilk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0" y="1325880"/>
            <a:ext cx="352044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1371600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xG ~ N(μ,σ²)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1325880"/>
            <a:ext cx="150876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371600"/>
            <a:ext cx="1435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6,3e−39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1325880"/>
            <a:ext cx="132588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09560" y="1371600"/>
            <a:ext cx="1252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0,05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1325880"/>
            <a:ext cx="169164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1160" y="1371600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✕ ZAMÍTÁME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72800" y="1325880"/>
            <a:ext cx="91440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18520" y="1371600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1801368"/>
            <a:ext cx="242316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1847088"/>
            <a:ext cx="2350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Shapiro-Wilk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0" y="1801368"/>
            <a:ext cx="352044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88920" y="1847088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dist_m ~ N(μ,σ²)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1801368"/>
            <a:ext cx="150876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1847088"/>
            <a:ext cx="1435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7,2e−7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1801368"/>
            <a:ext cx="132588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09560" y="1847088"/>
            <a:ext cx="1252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0,05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1801368"/>
            <a:ext cx="169164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81160" y="1847088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✕ ZAMÍTÁME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972800" y="1801368"/>
            <a:ext cx="91440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018520" y="1847088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2276856"/>
            <a:ext cx="242316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2322576"/>
            <a:ext cx="2350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Shapiro-Wilk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0" y="2276856"/>
            <a:ext cx="352044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88920" y="2322576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angle_deg ~ N(μ,σ²)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2276856"/>
            <a:ext cx="150876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5080" y="2322576"/>
            <a:ext cx="1435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6,3e−29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2276856"/>
            <a:ext cx="132588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09560" y="2322576"/>
            <a:ext cx="1252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0,05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235440" y="2276856"/>
            <a:ext cx="169164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81160" y="2322576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✕ ZAMÍTÁME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0" y="2276856"/>
            <a:ext cx="91440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018520" y="2322576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2752344"/>
            <a:ext cx="242316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2798064"/>
            <a:ext cx="2350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Levene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0" y="2752344"/>
            <a:ext cx="352044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88920" y="2798064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Rozptyly dist_m jsou shodné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9360" y="2752344"/>
            <a:ext cx="150876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55080" y="2798064"/>
            <a:ext cx="1435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4,5e−7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2752344"/>
            <a:ext cx="132588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09560" y="2798064"/>
            <a:ext cx="1252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0,05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35440" y="2752344"/>
            <a:ext cx="169164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81160" y="2798064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✕ ZAMÍTÁME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972800" y="2752344"/>
            <a:ext cx="91440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018520" y="2798064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/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3227832"/>
            <a:ext cx="242316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3273552"/>
            <a:ext cx="2350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Spearman 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0" y="3227832"/>
            <a:ext cx="352044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788920" y="3273552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r(xG, dist_m) = 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09360" y="3227832"/>
            <a:ext cx="150876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55080" y="3273552"/>
            <a:ext cx="1435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&lt; 0,001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863840" y="3227832"/>
            <a:ext cx="132588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909560" y="3273552"/>
            <a:ext cx="1252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0,05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235440" y="3227832"/>
            <a:ext cx="169164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281160" y="3273552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✕ ZAMÍTÁME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972800" y="3227832"/>
            <a:ext cx="91440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018520" y="3273552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/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3703320"/>
            <a:ext cx="242316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20040" y="3749039"/>
            <a:ext cx="2350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Welch ANOVA (dist_m)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0" y="3703320"/>
            <a:ext cx="352044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88920" y="3749039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Střed. vzdálenosti jsou shodné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09360" y="3703320"/>
            <a:ext cx="150876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355080" y="3749039"/>
            <a:ext cx="1435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7,5e−46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63840" y="3703320"/>
            <a:ext cx="132588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909560" y="3749039"/>
            <a:ext cx="1252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0,05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35440" y="3703320"/>
            <a:ext cx="169164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281160" y="3749039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✕ ZAMÍTÁME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972800" y="3703320"/>
            <a:ext cx="91440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1018520" y="3749039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/>
            </a:r>
          </a:p>
        </p:txBody>
      </p:sp>
      <p:sp>
        <p:nvSpPr>
          <p:cNvPr id="89" name="Rectangle 88"/>
          <p:cNvSpPr/>
          <p:nvPr/>
        </p:nvSpPr>
        <p:spPr>
          <a:xfrm>
            <a:off x="274320" y="4178808"/>
            <a:ext cx="242316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20040" y="4224528"/>
            <a:ext cx="2350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Welch ANOVA (angle)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43200" y="4178808"/>
            <a:ext cx="352044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88920" y="4224528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Střed. úhly jsou shodné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309360" y="4178808"/>
            <a:ext cx="150876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355080" y="4224528"/>
            <a:ext cx="1435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6,3e−14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863840" y="4178808"/>
            <a:ext cx="132588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909560" y="4224528"/>
            <a:ext cx="1252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0,05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235440" y="4178808"/>
            <a:ext cx="169164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281160" y="4224528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✕ ZAMÍTÁME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972800" y="4178808"/>
            <a:ext cx="91440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18520" y="4224528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/>
            </a:r>
          </a:p>
        </p:txBody>
      </p:sp>
      <p:sp>
        <p:nvSpPr>
          <p:cNvPr id="101" name="Rectangle 100"/>
          <p:cNvSpPr/>
          <p:nvPr/>
        </p:nvSpPr>
        <p:spPr>
          <a:xfrm>
            <a:off x="274320" y="4654296"/>
            <a:ext cx="242316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20040" y="4700016"/>
            <a:ext cx="2350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MANOVA (Wilks λ)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43200" y="4654296"/>
            <a:ext cx="352044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788920" y="4700016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Vektory středních = shodné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309360" y="4654296"/>
            <a:ext cx="150876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355080" y="4700016"/>
            <a:ext cx="1435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4,4e−27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863840" y="4654296"/>
            <a:ext cx="132588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909560" y="4700016"/>
            <a:ext cx="1252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0,05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235440" y="4654296"/>
            <a:ext cx="169164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281160" y="4700016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✕ ZAMÍTÁME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0972800" y="4654296"/>
            <a:ext cx="91440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1018520" y="4700016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/>
            </a:r>
          </a:p>
        </p:txBody>
      </p:sp>
      <p:sp>
        <p:nvSpPr>
          <p:cNvPr id="113" name="Rectangle 112"/>
          <p:cNvSpPr/>
          <p:nvPr/>
        </p:nvSpPr>
        <p:spPr>
          <a:xfrm>
            <a:off x="274320" y="5129784"/>
            <a:ext cx="242316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20040" y="5175504"/>
            <a:ext cx="2350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Bartlettův test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743200" y="5129784"/>
            <a:ext cx="352044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788920" y="5175504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Kor. matice = I (PCA nevhodná)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309360" y="5129784"/>
            <a:ext cx="150876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55080" y="5175504"/>
            <a:ext cx="1435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≈ 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863840" y="5129784"/>
            <a:ext cx="132588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909560" y="5175504"/>
            <a:ext cx="1252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0,05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235440" y="5129784"/>
            <a:ext cx="169164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281160" y="5175504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✕ ZAMÍTÁME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972800" y="5129784"/>
            <a:ext cx="91440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1018520" y="5175504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/>
            </a:r>
          </a:p>
        </p:txBody>
      </p:sp>
      <p:sp>
        <p:nvSpPr>
          <p:cNvPr id="125" name="Rectangle 124"/>
          <p:cNvSpPr/>
          <p:nvPr/>
        </p:nvSpPr>
        <p:spPr>
          <a:xfrm>
            <a:off x="274320" y="5605272"/>
            <a:ext cx="242316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20040" y="5650992"/>
            <a:ext cx="2350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Logit (dist_m)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743200" y="5605272"/>
            <a:ext cx="352044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788920" y="5650992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β_dist = 0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309360" y="5605272"/>
            <a:ext cx="150876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355080" y="5650992"/>
            <a:ext cx="1435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0,029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863840" y="5605272"/>
            <a:ext cx="132588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909560" y="5650992"/>
            <a:ext cx="1252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0,05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235440" y="5605272"/>
            <a:ext cx="169164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281160" y="5650992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✕ ZAMÍTÁME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0972800" y="5605272"/>
            <a:ext cx="914400" cy="438912"/>
          </a:xfrm>
          <a:prstGeom prst="rect">
            <a:avLst/>
          </a:prstGeom>
          <a:solidFill>
            <a:srgbClr val="FA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018520" y="5650992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/>
            </a:r>
          </a:p>
        </p:txBody>
      </p:sp>
      <p:sp>
        <p:nvSpPr>
          <p:cNvPr id="137" name="Rectangle 136"/>
          <p:cNvSpPr/>
          <p:nvPr/>
        </p:nvSpPr>
        <p:spPr>
          <a:xfrm>
            <a:off x="274320" y="6080760"/>
            <a:ext cx="242316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20040" y="6126480"/>
            <a:ext cx="2350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Logit (xG)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743200" y="6080760"/>
            <a:ext cx="352044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788920" y="6126480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β_xG = 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309360" y="6080760"/>
            <a:ext cx="150876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55080" y="6126480"/>
            <a:ext cx="1435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4,7e−6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863840" y="6080760"/>
            <a:ext cx="132588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909560" y="6126480"/>
            <a:ext cx="1252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0,05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9235440" y="6080760"/>
            <a:ext cx="169164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281160" y="6126480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2020"/>
                </a:solidFill>
              </a:rPr>
              <a:t>✕ ZAMÍTÁME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0972800" y="6080760"/>
            <a:ext cx="914400" cy="438912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1018520" y="6126480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/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384280" y="653796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</a:rPr>
              <a:t>Závěr a fotbalová interpretace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8368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Co analýza říká trenérům a analytikům?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11548872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11548872" cy="758952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64008" cy="75895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60704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Vzdálenost a úhel střely jsou klíčové prediktory úspěšnosti – potvrzen statistický vliv (ANOVA, MANOVA, Logit)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47088"/>
            <a:ext cx="11548872" cy="758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847088"/>
            <a:ext cx="64008" cy="75895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019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Typ zakončení (noha vs. hlava) statisticky významně ovlivňuje geometrii střely – hlavičky z horšíche pozic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688336"/>
            <a:ext cx="11548872" cy="758952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688336"/>
            <a:ext cx="64008" cy="75895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7432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PCA: „osa kvality střelecké pozice" (PC1 = xG, dist_m, angle_deg) vysvětluje ~ 50 % variability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529584"/>
            <a:ext cx="11548872" cy="758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3529584"/>
            <a:ext cx="64008" cy="75895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58444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Shluková analýza potvrdila dva herní profily: střely z vápna (xG &gt; 15 %) vs. střelba z dálky (xG &lt; 5 %)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370832"/>
            <a:ext cx="11548872" cy="758952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4370832"/>
            <a:ext cx="64008" cy="75895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425696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Logistická regrese: AUC = 0,78 – spolehlivá predikce gólu z fyzikálních parametrů střely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212080"/>
            <a:ext cx="11548872" cy="758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5212080"/>
            <a:ext cx="64008" cy="75895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266944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Doporučení pro trenéry: soustřeďte zakončení na střely z I. třetiny vápna s úhlem &gt; 30° → výrazně vyšší xG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6355080"/>
            <a:ext cx="11548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</a:rPr>
              <a:t>Děkuji za pozornost   |   MPC VMM 2026/27   |   VUT Brno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84280" y="653796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88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