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Střelecká úspěšnost ve fotbale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666666"/>
                </a:solidFill>
              </a:rPr>
              <a:t>Vícerozměrná statistická analýza dat střel z anglické Premier League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337560"/>
            <a:ext cx="6702552" cy="1828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725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33333"/>
                </a:solidFill>
              </a:rPr>
              <a:t>Vysoké učení technické v Brně  •  Vícerozměrné statistické metody (VMM)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</a:rPr>
              <a:t>Semestrální projekt  •  Akademický rok 2026/27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72200"/>
            <a:ext cx="10725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</a:rPr>
              <a:t>Zdroj dat: shots_outcome_Final.csv (understat.com)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Představení datového vzorku a proměnných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5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66666"/>
                </a:solidFill>
              </a:rPr>
              <a:t>Základní popis analyzované datové sady z Premier League a vymezení cílů výzkumu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3268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5212080" cy="1691640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097280"/>
            <a:ext cx="73152" cy="169164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1887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Datový vzorek (Premier League)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087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• Celkem 1 000 zaznamenaných střel (databáze understat.com).
• 998 střel po vyřazení vlastních branek (OwnGoal).
• 734 střel s kompletními prostorovými souřadnicemi (X, Y) po věcném vyřazení chybějících údajů a aplikaci pravidla 3-sigma na dist_m.
• Podíl gólů v čisté sadě činí 9,0 % (66 branek vs. 668 nezakončených).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97280"/>
            <a:ext cx="5212080" cy="1691640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73152" cy="169164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1887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Cíl semestrální práce &amp; hypotéza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• Identifikovat klíčové prostorové a geometrické faktory ovlivňující úspěšnost fotbalového zakončení.
• Ověřit statistickou významnost rozdílů mezi typy zakončení (noha vs. hlava) a odhalit skryté faktory pozice.
• H₀: Pravděpodobnost vstřelení gólu je nezávislá na poloze a geometrii střely na hřišti.
• Využití postupného metodického aparátu od EDA po logistickou regresi.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71800"/>
            <a:ext cx="10725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Přehled sledovaných a odvozených proměnných: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91840"/>
            <a:ext cx="1188720" cy="310896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3192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Proměnná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3291840"/>
            <a:ext cx="6126480" cy="310896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319272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Význam a definice metriky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3291840"/>
            <a:ext cx="1463040" cy="310896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33192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Datový typ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3291840"/>
            <a:ext cx="1645920" cy="310896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33192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Rozsah hodnot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621024"/>
            <a:ext cx="118872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5760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333"/>
                </a:solidFill>
              </a:rPr>
              <a:t>X, 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621024"/>
            <a:ext cx="612648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7400" y="3657600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Prostorové souřadnice zakončení na hřišti (přeškálováno na 0–100 % délky a šířky)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3621024"/>
            <a:ext cx="146304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65760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Spojitá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3621024"/>
            <a:ext cx="164592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365760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0,0 až 100,0 %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968496"/>
            <a:ext cx="11887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0050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333"/>
                </a:solidFill>
              </a:rPr>
              <a:t>dist_m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3968496"/>
            <a:ext cx="6126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4005072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Odvozená Eukleidovská vzdálenost střely od středu branky [X=100, Y=50]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968496"/>
            <a:ext cx="14630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005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Spojitá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84080" y="3968496"/>
            <a:ext cx="1645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40050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2,7 až 41,7 j.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4315968"/>
            <a:ext cx="118872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35254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333"/>
                </a:solidFill>
              </a:rPr>
              <a:t>angle_deg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11680" y="4315968"/>
            <a:ext cx="612648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4352544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Odvozený střelecký zorný úhel sevřený brankovými tyčemi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4315968"/>
            <a:ext cx="146304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43525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Spojitá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84080" y="4315968"/>
            <a:ext cx="164592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29800" y="43525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4,0° až 121,3°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663440"/>
            <a:ext cx="11887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470001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333"/>
                </a:solidFill>
              </a:rPr>
              <a:t>xG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1680" y="4663440"/>
            <a:ext cx="6126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4700016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Očekávaná pravděpodobnost vstřelení gólu (Expected Goals model)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4663440"/>
            <a:ext cx="14630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75320" y="47000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Spojitá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84080" y="4663440"/>
            <a:ext cx="1645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29800" y="470001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0,01 až 0,76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5010912"/>
            <a:ext cx="118872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504748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333"/>
                </a:solidFill>
              </a:rPr>
              <a:t>minute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11680" y="5010912"/>
            <a:ext cx="612648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5047488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Minuta utkání, ve které byla střela vyslána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0" y="5010912"/>
            <a:ext cx="146304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75320" y="50474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Diskrétní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84080" y="5010912"/>
            <a:ext cx="164592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29800" y="50474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0 až 96 min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358383"/>
            <a:ext cx="11887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5394959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333"/>
                </a:solidFill>
              </a:rPr>
              <a:t>shotType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011680" y="5358383"/>
            <a:ext cx="6126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57400" y="5394959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Způsob zakončení: Pravá noha (n=285), Levá noha (n=272), Hlava (n=48)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0" y="5358383"/>
            <a:ext cx="14630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75320" y="53949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Kategorická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784080" y="5358383"/>
            <a:ext cx="1645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29800" y="5394959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Right / Left / Head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1520" y="5705856"/>
            <a:ext cx="118872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7424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33333"/>
                </a:solidFill>
              </a:rPr>
              <a:t>goal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11680" y="5705856"/>
            <a:ext cx="612648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57400" y="5742432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Cílová binární proměnná úspěšnosti (1 = Gól / 66 střel, 0 = Bez gólu / 668 střel)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29600" y="5705856"/>
            <a:ext cx="146304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75320" y="574243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Binární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784080" y="5705856"/>
            <a:ext cx="1645920" cy="32918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29800" y="574243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3333"/>
                </a:solidFill>
              </a:rPr>
              <a:t>0 nebo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Mapa střel na celém fotbalovém hřišti (100 × 100 jednotek)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mapa_str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841248"/>
            <a:ext cx="9875520" cy="635926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5925312"/>
            <a:ext cx="10725912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925312"/>
            <a:ext cx="73152" cy="5303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80176"/>
            <a:ext cx="1040587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A1A1A"/>
                </a:solidFill>
              </a:rPr>
              <a:t>Fotbalový závěr: </a:t>
            </a:r>
            <a:r>
              <a:rPr sz="1200">
                <a:solidFill>
                  <a:srgbClr val="333333"/>
                </a:solidFill>
              </a:rPr>
              <a:t>Góly (červené body) jsou soustředěny v prostoru pokutového území v těsné blízkosti branky; střelba z velké vzdálenosti má minimální konverzi.</a:t>
            </a:r>
            <a:r>
              <a:rPr b="1" sz="1200">
                <a:solidFill>
                  <a:srgbClr val="C53030"/>
                </a:solidFill>
              </a:rPr>
              <a:t>  |  Sada: n = 734 | Gól: 66 (9.0 %) | Z-skóre dist_m &lt;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2D KDE hustota střelby na hřišti (Vrstevnice zakončení)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c_kde_hris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841248"/>
            <a:ext cx="9875520" cy="635926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5925312"/>
            <a:ext cx="10725912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925312"/>
            <a:ext cx="73152" cy="5303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80176"/>
            <a:ext cx="1040587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A1A1A"/>
                </a:solidFill>
              </a:rPr>
              <a:t>Fotbalový závěr: </a:t>
            </a:r>
            <a:r>
              <a:rPr sz="1200">
                <a:solidFill>
                  <a:srgbClr val="333333"/>
                </a:solidFill>
              </a:rPr>
              <a:t>Jádro úspěšných střel (červené vrstevnice) je lokalizováno přímo v ose před brankou (malé vápno), zatímco neproměněné střely vykazují široký rozptyl.</a:t>
            </a:r>
            <a:r>
              <a:rPr b="1" sz="1200">
                <a:solidFill>
                  <a:srgbClr val="C53030"/>
                </a:solidFill>
              </a:rPr>
              <a:t>  |  Přednáška VMM-3/VMM-4 (Plynulé 2D hustoty pravděpodobnosti)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Diagnostika normality &amp; předpokladů (dist_m)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normalita_histogramy_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841248"/>
            <a:ext cx="9875520" cy="4129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5925312"/>
            <a:ext cx="10725912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925312"/>
            <a:ext cx="73152" cy="5303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80176"/>
            <a:ext cx="1040587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A1A1A"/>
                </a:solidFill>
              </a:rPr>
              <a:t>Fotbalový závěr: </a:t>
            </a:r>
            <a:r>
              <a:rPr sz="1200">
                <a:solidFill>
                  <a:srgbClr val="333333"/>
                </a:solidFill>
              </a:rPr>
              <a:t>Shapiro-Wilkův test (p &lt; 0.001) i Leveneho test heteroskedasticity (p &lt; 0.001) prokazují porušení předpokladů normality a rovnosti rozptylů.</a:t>
            </a:r>
            <a:r>
              <a:rPr b="1" sz="1200">
                <a:solidFill>
                  <a:srgbClr val="C53030"/>
                </a:solidFill>
              </a:rPr>
              <a:t>  |  Shapiro-Wilk W = 0.984, p = 7.15e-07 -&gt; H0 ZAMÍTNUTA (nutné robustní metody)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Spearmanova korelační analýza (Plná matice)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korelacni_heat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841248"/>
            <a:ext cx="9875520" cy="864304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5925312"/>
            <a:ext cx="10725912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925312"/>
            <a:ext cx="73152" cy="5303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80176"/>
            <a:ext cx="1040587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A1A1A"/>
                </a:solidFill>
              </a:rPr>
              <a:t>Fotbalový závěr: </a:t>
            </a:r>
            <a:r>
              <a:rPr sz="1200">
                <a:solidFill>
                  <a:srgbClr val="333333"/>
                </a:solidFill>
              </a:rPr>
              <a:t>Silná záporná závislost mezi vzdáleností a xG (r = -0.73, p &lt; 0.001) potvrzuje, že větší vzdálenost dramaticky sráží kvalitu střelecké příležitosti.</a:t>
            </a:r>
            <a:r>
              <a:rPr b="1" sz="1200">
                <a:solidFill>
                  <a:srgbClr val="C53030"/>
                </a:solidFill>
              </a:rPr>
              <a:t>  |  Test r = 0: t = -29.14, p &lt; 0.001 -&gt; H0 ZAMÍTNUTA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Párové rozptylové diagramy a marginální hustoty (KDE)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b_pai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841248"/>
            <a:ext cx="9875520" cy="639801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5925312"/>
            <a:ext cx="10725912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925312"/>
            <a:ext cx="73152" cy="5303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80176"/>
            <a:ext cx="1040587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A1A1A"/>
                </a:solidFill>
              </a:rPr>
              <a:t>Fotbalový závěr: </a:t>
            </a:r>
            <a:r>
              <a:rPr sz="1200">
                <a:solidFill>
                  <a:srgbClr val="333333"/>
                </a:solidFill>
              </a:rPr>
              <a:t>Marginální KDE křivky na diagonále i 2D projekce jasně separují góly (červená) v zóně krátkých vzdáleností (dist_m &lt; 15) a vysokých úhlů (angle &gt; 30°).</a:t>
            </a:r>
            <a:r>
              <a:rPr b="1" sz="1200">
                <a:solidFill>
                  <a:srgbClr val="C53030"/>
                </a:solidFill>
              </a:rPr>
              <a:t>  |  Přednáška VMM-4 (Multivariátní zkoumání vztahů s KDE diagonálou)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Rozdíly geometrie střely dle typu zakončení (ANOVA)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boxploty_shot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841248"/>
            <a:ext cx="9875520" cy="4129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5925312"/>
            <a:ext cx="10725912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925312"/>
            <a:ext cx="73152" cy="5303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80176"/>
            <a:ext cx="1040587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A1A1A"/>
                </a:solidFill>
              </a:rPr>
              <a:t>Fotbalový závěr: </a:t>
            </a:r>
            <a:r>
              <a:rPr sz="1200">
                <a:solidFill>
                  <a:srgbClr val="333333"/>
                </a:solidFill>
              </a:rPr>
              <a:t>Zakončení hlavou probíhá z výrazně odlišných prostorových parametrů než střelba nohou (jak z hlediska vzdálenosti, tak z pohledu střeleckého úhlu).</a:t>
            </a:r>
            <a:r>
              <a:rPr b="1" sz="1200">
                <a:solidFill>
                  <a:srgbClr val="C53030"/>
                </a:solidFill>
              </a:rPr>
              <a:t>  |  Welchova ANOVA dist_m: F = 193.0, p = 7.47e-46 -&gt; H0 ZAMÍTNUTA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Vícerozměrné posouzení sdruženého vektoru (MANOVA &amp; Tukey)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b_tukey_h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841248"/>
            <a:ext cx="9875520" cy="4129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5925312"/>
            <a:ext cx="10725912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925312"/>
            <a:ext cx="73152" cy="5303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80176"/>
            <a:ext cx="1040587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A1A1A"/>
                </a:solidFill>
              </a:rPr>
              <a:t>Fotbalový závěr: </a:t>
            </a:r>
            <a:r>
              <a:rPr sz="1200">
                <a:solidFill>
                  <a:srgbClr val="333333"/>
                </a:solidFill>
              </a:rPr>
              <a:t>Zakončení hlavou se signifikantně liší od obou nohou (Δ dist ≈ +11 j., Δ úhel ≈ -22°); mezi pravou a levou nohou nebyl nalezen významný rozdíl (p = 0.22).</a:t>
            </a:r>
            <a:r>
              <a:rPr b="1" sz="1200">
                <a:solidFill>
                  <a:srgbClr val="C53030"/>
                </a:solidFill>
              </a:rPr>
              <a:t>  |  MANOVA Wilks' λ = 0.806, p = 4.44e-27 -&gt; H0 ZAMÍTNUTA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Redukce dimenzionality PCA (Scree plot &amp; Biplot)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b_biplot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841248"/>
            <a:ext cx="9875520" cy="426066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5925312"/>
            <a:ext cx="10725912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925312"/>
            <a:ext cx="73152" cy="5303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80176"/>
            <a:ext cx="1040587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A1A1A"/>
                </a:solidFill>
              </a:rPr>
              <a:t>Fotbalový závěr: </a:t>
            </a:r>
            <a:r>
              <a:rPr sz="1200">
                <a:solidFill>
                  <a:srgbClr val="333333"/>
                </a:solidFill>
              </a:rPr>
              <a:t>První hlavní komponenta PC1 (~48 % rozptylu) definuje osu kvality střelecké pozice (vzdálenost vs. úhel a xG); 2 komponenty zachycují ~68 % variability.</a:t>
            </a:r>
            <a:r>
              <a:rPr b="1" sz="1200">
                <a:solidFill>
                  <a:srgbClr val="C53030"/>
                </a:solidFill>
              </a:rPr>
              <a:t>  |  Bartlettův test sférickosti: χ² = 2041.4, p &lt; 0.001 -&gt; H0 ZAMÍTNUTA (PCA je vhodná)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Faktorová analýza s rotací Varimax (Latentní faktory)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c_fa_varimax_lo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841248"/>
            <a:ext cx="9875520" cy="604746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5925312"/>
            <a:ext cx="10725912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925312"/>
            <a:ext cx="73152" cy="5303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80176"/>
            <a:ext cx="1040587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A1A1A"/>
                </a:solidFill>
              </a:rPr>
              <a:t>Fotbalový závěr: </a:t>
            </a:r>
            <a:r>
              <a:rPr sz="1200">
                <a:solidFill>
                  <a:srgbClr val="333333"/>
                </a:solidFill>
              </a:rPr>
              <a:t>Faktorová analýza s rotací Varimax odhalila 2 nezávislé latentní dimenze: F1 = Čistá kvalita střeleckého úhlu a xG, F2 = Herní hloubka a postup po ose X.</a:t>
            </a:r>
            <a:r>
              <a:rPr b="1" sz="1200">
                <a:solidFill>
                  <a:srgbClr val="C53030"/>
                </a:solidFill>
              </a:rPr>
              <a:t>  |  Přednáška VMM-9 (Faktorová analýza a ortogonální rotace Varimax)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Logistická regrese: Křivka pravděpodobnosti gólu &amp; ROC křivka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b_logisticka_kriv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841248"/>
            <a:ext cx="9875520" cy="40116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5925312"/>
            <a:ext cx="10725912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925312"/>
            <a:ext cx="73152" cy="53035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80176"/>
            <a:ext cx="10405872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1A1A1A"/>
                </a:solidFill>
              </a:rPr>
              <a:t>Fotbalový závěr: </a:t>
            </a:r>
            <a:r>
              <a:rPr sz="1200">
                <a:solidFill>
                  <a:srgbClr val="333333"/>
                </a:solidFill>
              </a:rPr>
              <a:t>Při vzdálenosti 10 m je šance na gól ~25 %, na 25 m klesá pod 3 % (OR = 0.922 na metr, p = 0.029). Model dosahuje výborné diskriminace (AUC = 0.784, VIF &lt; 3).</a:t>
            </a:r>
            <a:r>
              <a:rPr b="1" sz="1200">
                <a:solidFill>
                  <a:srgbClr val="C53030"/>
                </a:solidFill>
              </a:rPr>
              <a:t>  |  Globální test LLR: χ² = 82.1, p = 6.17e-17 -&gt; H0 ZAMÍTNUTA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92608"/>
            <a:ext cx="107259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</a:rPr>
              <a:t>Souhrnná tabulka testovaných hypotéz &amp; doporučení pro trenéry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49808"/>
            <a:ext cx="10725912" cy="13716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18872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8755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Fáze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960120"/>
            <a:ext cx="182880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987552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Metoda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960120"/>
            <a:ext cx="347472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77639" y="987552"/>
            <a:ext cx="33832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Nulová hypotéza (H₀)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960120"/>
            <a:ext cx="12801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987552"/>
            <a:ext cx="11887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Statistika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960120"/>
            <a:ext cx="100584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15400" y="98755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p-hodnota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960120"/>
            <a:ext cx="1490472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987552"/>
            <a:ext cx="13990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Rozhodnutí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1280160"/>
            <a:ext cx="1188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298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3 – Normalita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1280160"/>
            <a:ext cx="182880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12984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Shapiro-Wilk (dist_m)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1280160"/>
            <a:ext cx="3474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77639" y="1298448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dist_m pochází z normálního rozdělení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1280160"/>
            <a:ext cx="128016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0" y="1298448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W = 0.9842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1280160"/>
            <a:ext cx="100584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1298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7.15e-07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60" y="1280160"/>
            <a:ext cx="1490472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1298448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1536192"/>
            <a:ext cx="1188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155448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3 – Normalita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1536192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155448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Shapiro-Wilk (xG)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1536192"/>
            <a:ext cx="3474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7639" y="155448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xG pochází z normálního rozdělení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1536192"/>
            <a:ext cx="12801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1554480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W = 0.5485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69680" y="1536192"/>
            <a:ext cx="10058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155448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6.34e-39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66960" y="1536192"/>
            <a:ext cx="149047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1554480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1792224"/>
            <a:ext cx="1188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181051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3 – Rozptyly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0" y="1792224"/>
            <a:ext cx="182880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181051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Leveneho test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31920" y="1792224"/>
            <a:ext cx="3474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77639" y="1810512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Rozptyly vzdálenosti jsou ve skupinách shodné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79" y="1792224"/>
            <a:ext cx="128016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43800" y="1810512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L = 10.997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69680" y="1792224"/>
            <a:ext cx="100584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15400" y="181051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4.55e-07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966960" y="1792224"/>
            <a:ext cx="1490472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12680" y="1810512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" y="2048256"/>
            <a:ext cx="1188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206654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4 – Závislost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11680" y="2048256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0665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Spearmanův test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31920" y="2048256"/>
            <a:ext cx="3474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77639" y="2066544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Korelace mezi xG a dist_m je nulová (r = 0)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98079" y="2048256"/>
            <a:ext cx="12801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3800" y="2066544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r = -0.732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69680" y="2048256"/>
            <a:ext cx="10058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15400" y="206654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&lt; 0.001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966960" y="2048256"/>
            <a:ext cx="149047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12680" y="2066544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" y="2304288"/>
            <a:ext cx="1188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" y="232257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5 – Rozdíly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11680" y="2304288"/>
            <a:ext cx="182880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57400" y="2322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Welch ANOVA (dist_m)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931920" y="2304288"/>
            <a:ext cx="3474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977639" y="2322576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Střední vzdálenosti jsou pro typy zakončení stejné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498079" y="2304288"/>
            <a:ext cx="128016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43800" y="2322576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F = 193.0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69680" y="2304288"/>
            <a:ext cx="100584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915400" y="232257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7.47e-46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966960" y="2304288"/>
            <a:ext cx="1490472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012680" y="2322576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" y="2560320"/>
            <a:ext cx="1188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7240" y="257860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5 – Rozdíly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1680" y="2560320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57400" y="25786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Welch ANOVA (angle)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31920" y="2560320"/>
            <a:ext cx="3474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977639" y="2578608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Střední úhly jsou pro typy zakončení stejné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498079" y="2560320"/>
            <a:ext cx="12801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543800" y="2578608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F = 39.06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69680" y="2560320"/>
            <a:ext cx="10058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915400" y="257860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6.33e-14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966960" y="2560320"/>
            <a:ext cx="149047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012680" y="2578608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31520" y="2816352"/>
            <a:ext cx="1188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7240" y="28346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6 – Sdružené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011680" y="2816352"/>
            <a:ext cx="182880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57400" y="28346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MANOVA (Wilks λ)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931920" y="2816352"/>
            <a:ext cx="3474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977639" y="283464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Vektory středních hodnot jsou ve skupinách shodné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498079" y="2816352"/>
            <a:ext cx="128016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543800" y="2834640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λ = 0.806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2816352"/>
            <a:ext cx="100584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15400" y="28346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4.44e-27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966960" y="2816352"/>
            <a:ext cx="1490472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012680" y="2834640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3072384"/>
            <a:ext cx="1188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77240" y="30906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7 – PCA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11680" y="3072384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057400" y="30906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Bartlettův test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931920" y="3072384"/>
            <a:ext cx="3474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977639" y="3090672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Korelační matice je jednotková (PCA nevhodná)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498079" y="3072384"/>
            <a:ext cx="12801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543800" y="3090672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χ² = 2041.4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869680" y="3072384"/>
            <a:ext cx="10058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15400" y="30906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&lt; 0.001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966960" y="3072384"/>
            <a:ext cx="149047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012680" y="3090672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0" y="3328416"/>
            <a:ext cx="1188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7240" y="334670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8 – Multikol.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011680" y="3328416"/>
            <a:ext cx="182880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057400" y="33467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Test VIF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931920" y="3328416"/>
            <a:ext cx="3474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977639" y="3346704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Prediktory netrpí multikolinearitou (VIF &lt; 5)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498079" y="3328416"/>
            <a:ext cx="128016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543800" y="3346704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max VIF = 2.87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869680" y="3328416"/>
            <a:ext cx="100584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915400" y="334670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VIF &lt; 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66960" y="3328416"/>
            <a:ext cx="1490472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12680" y="3346704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276749"/>
                </a:solidFill>
              </a:rPr>
              <a:t>NEZAMÍTÁME H₀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31520" y="3584448"/>
            <a:ext cx="1188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7240" y="360273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9 – Regrese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011680" y="3584448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057400" y="36027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Logit (dist_m)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931920" y="3584448"/>
            <a:ext cx="3474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977639" y="3602736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Vzdálenost střely neovlivňuje šanci na gól (β = 0)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498079" y="3584448"/>
            <a:ext cx="12801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543800" y="3602736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z = -2.18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869680" y="3584448"/>
            <a:ext cx="10058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915400" y="360273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0.0294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66960" y="3584448"/>
            <a:ext cx="149047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012680" y="3602736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1520" y="3840480"/>
            <a:ext cx="1188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77240" y="385876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9 – Regrese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11680" y="3840480"/>
            <a:ext cx="182880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057400" y="38587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Logit (xG)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931920" y="3840480"/>
            <a:ext cx="347472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977639" y="3858768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Metrika xG neovlivňuje šanci na gól (β = 0)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498079" y="3840480"/>
            <a:ext cx="128016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543800" y="3858768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z = 4.58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869680" y="3840480"/>
            <a:ext cx="1005840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915400" y="385876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4.68e-06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966960" y="3840480"/>
            <a:ext cx="1490472" cy="237744"/>
          </a:xfrm>
          <a:prstGeom prst="rect">
            <a:avLst/>
          </a:prstGeom>
          <a:solidFill>
            <a:srgbClr val="FAFA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012680" y="3858768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31520" y="4096512"/>
            <a:ext cx="1188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7240" y="411480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10 – Shluky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2011680" y="4096512"/>
            <a:ext cx="18288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057400" y="41148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Wardovo shlukování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931920" y="4096512"/>
            <a:ext cx="347472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977639" y="411480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</a:rPr>
              <a:t>Střely tvoří homogenní rozdělení bez shluků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498079" y="4096512"/>
            <a:ext cx="12801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4114800"/>
            <a:ext cx="11887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Ward d² k=2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869680" y="4096512"/>
            <a:ext cx="100584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915400" y="411480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333333"/>
                </a:solidFill>
              </a:rPr>
              <a:t>&lt; 0.001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966960" y="4096512"/>
            <a:ext cx="149047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012680" y="4114800"/>
            <a:ext cx="13990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</a:rPr>
              <a:t>ZAMÍTÁME H₀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" y="4617720"/>
            <a:ext cx="5239512" cy="749808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31520" y="4617720"/>
            <a:ext cx="73152" cy="74980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96112" y="4672583"/>
            <a:ext cx="4965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1. Priorita hloubky vápna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96112" y="4910328"/>
            <a:ext cx="49651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Střelba z vápna (&lt; 12 j.) má 6× vyšší konverzi než z dálky; klíčem je trpělivá finální přihrávka do pokutového území.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217920" y="4617720"/>
            <a:ext cx="5239512" cy="749808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217920" y="4617720"/>
            <a:ext cx="73152" cy="74980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82512" y="4672583"/>
            <a:ext cx="4965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2. Maximalizace úhlu zakončení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82512" y="4910328"/>
            <a:ext cx="49651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Větší střelecký zorný úhel násobně zvyšuje xG; útočníci mají preferovat zakončení z centrální osy před střelbou z ostrých úhlů.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31520" y="5440680"/>
            <a:ext cx="5239512" cy="749808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31520" y="5440680"/>
            <a:ext cx="73152" cy="74980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96112" y="5495544"/>
            <a:ext cx="4965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3. Specifický nácvik hlaviček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96112" y="5733288"/>
            <a:ext cx="49651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Hlavičky vznikají ze zhoršených úhlů a větších vzdáleností; centry musí cíleně směřovat do zóny malého vápna.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217920" y="5440680"/>
            <a:ext cx="5239512" cy="749808"/>
          </a:xfrm>
          <a:prstGeom prst="rect">
            <a:avLst/>
          </a:prstGeom>
          <a:solidFill>
            <a:srgbClr val="F9FAFB"/>
          </a:solidFill>
          <a:ln w="12700"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217920" y="5440680"/>
            <a:ext cx="73152" cy="74980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82512" y="5495544"/>
            <a:ext cx="49651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4. Taktická eliminace střel z dálky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382512" y="5733288"/>
            <a:ext cx="49651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Střelba ze vzdálenosti &gt; 20 metrů vykazuje šanci pod 3 %; v tréninku je nutné potlačit ukvapené pokusy ze střední vzdálenosti.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31520" y="6355080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</a:rPr>
              <a:t>Semestrální projekt VMM 2026/27  •  VUT Brno  •  Děkuji za pozornost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972800" y="64922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