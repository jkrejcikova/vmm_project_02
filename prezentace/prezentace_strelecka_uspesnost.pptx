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7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3601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Střelecká úspěšnost ve fotbale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42316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AACCFF"/>
                </a:solidFill>
              </a:rPr>
              <a:t>Vícerozměrná statistická analýza dat střel z anglické Premier League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0" y="3063240"/>
            <a:ext cx="8531352" cy="36576"/>
          </a:xfrm>
          <a:prstGeom prst="rect">
            <a:avLst/>
          </a:prstGeom>
          <a:solidFill>
            <a:srgbClr val="28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24612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CDDFF"/>
                </a:solidFill>
              </a:rPr>
              <a:t>VUT Brno – Vícerozměrné statistické metody (VMM)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03320"/>
            <a:ext cx="10360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9BBEE"/>
                </a:solidFill>
              </a:rPr>
              <a:t>Akademický rok 2026/27  |  Semestrální projekt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217920"/>
            <a:ext cx="103601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7799BB"/>
                </a:solidFill>
              </a:rPr>
              <a:t>Dataset: shots_outcome_Final.csv  |  Zdroj: understat.com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54545"/>
                </a:solidFill>
              </a:rP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Popis datasetu a cíl analýzy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" y="685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DDFF"/>
                </a:solidFill>
              </a:rPr>
              <a:t>📊 shots_outcome_Final.csv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454545"/>
                </a:solidFill>
              </a:rPr>
              <a:t>●  Dataset: střely z anglické Premier League (sezóny 2014–2022)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454545"/>
                </a:solidFill>
              </a:rPr>
              <a:t>●  ~15 000 střel, každá s geometrickými a kontextovými atributy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454545"/>
                </a:solidFill>
              </a:rPr>
              <a:t>●  Klíčové proměnné: X, Y (souřadnice), xG, typ zakončení, situace, výsledek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454545"/>
                </a:solidFill>
              </a:rPr>
              <a:t>●  Cílová proměnná: Gól = 1, ostatní výsledky = 0 (binární klasifikace)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454545"/>
                </a:solidFill>
              </a:rPr>
              <a:t>●  Vlastní branky (OwnGoal) vyřazeny – nejsou střeleckou akcí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188720"/>
            <a:ext cx="2103120" cy="347472"/>
          </a:xfrm>
          <a:prstGeom prst="rect">
            <a:avLst/>
          </a:prstGeom>
          <a:solidFill>
            <a:srgbClr val="1A376B"/>
          </a:solidFill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Proměnná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1188720"/>
            <a:ext cx="2103120" cy="347472"/>
          </a:xfrm>
          <a:prstGeom prst="rect">
            <a:avLst/>
          </a:prstGeom>
          <a:solidFill>
            <a:srgbClr val="1A376B"/>
          </a:solidFill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Popis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1188720"/>
            <a:ext cx="2103120" cy="347472"/>
          </a:xfrm>
          <a:prstGeom prst="rect">
            <a:avLst/>
          </a:prstGeom>
          <a:solidFill>
            <a:srgbClr val="1A376B"/>
          </a:solidFill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Typ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536192"/>
            <a:ext cx="2103120" cy="502920"/>
          </a:xfrm>
          <a:prstGeom prst="rect">
            <a:avLst/>
          </a:prstGeom>
          <a:solidFill>
            <a:srgbClr val="F0F4FF"/>
          </a:solidFill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4545"/>
                </a:solidFill>
              </a:rPr>
              <a:t>X, 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536192"/>
            <a:ext cx="2103120" cy="502920"/>
          </a:xfrm>
          <a:prstGeom prst="rect">
            <a:avLst/>
          </a:prstGeom>
          <a:solidFill>
            <a:srgbClr val="F0F4FF"/>
          </a:solidFill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4545"/>
                </a:solidFill>
              </a:rPr>
              <a:t>Souřadnice střely (0–100 j.)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1536192"/>
            <a:ext cx="2103120" cy="502920"/>
          </a:xfrm>
          <a:prstGeom prst="rect">
            <a:avLst/>
          </a:prstGeom>
          <a:solidFill>
            <a:srgbClr val="F0F4FF"/>
          </a:solidFill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4545"/>
                </a:solidFill>
              </a:rPr>
              <a:t>Numerická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03120"/>
            <a:ext cx="2103120" cy="502920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4545"/>
                </a:solidFill>
              </a:rPr>
              <a:t>dist_m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103120"/>
            <a:ext cx="2103120" cy="502920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4545"/>
                </a:solidFill>
              </a:rPr>
              <a:t>Odvozená vzdálenost od branky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2103120"/>
            <a:ext cx="2103120" cy="502920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4545"/>
                </a:solidFill>
              </a:rPr>
              <a:t>Numerická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2670048"/>
            <a:ext cx="2103120" cy="502920"/>
          </a:xfrm>
          <a:prstGeom prst="rect">
            <a:avLst/>
          </a:prstGeom>
          <a:solidFill>
            <a:srgbClr val="F0F4FF"/>
          </a:solidFill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4545"/>
                </a:solidFill>
              </a:rPr>
              <a:t>angle_deg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670048"/>
            <a:ext cx="2103120" cy="502920"/>
          </a:xfrm>
          <a:prstGeom prst="rect">
            <a:avLst/>
          </a:prstGeom>
          <a:solidFill>
            <a:srgbClr val="F0F4FF"/>
          </a:solidFill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4545"/>
                </a:solidFill>
              </a:rPr>
              <a:t>Odvozený střelecký úhel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2670048"/>
            <a:ext cx="2103120" cy="502920"/>
          </a:xfrm>
          <a:prstGeom prst="rect">
            <a:avLst/>
          </a:prstGeom>
          <a:solidFill>
            <a:srgbClr val="F0F4FF"/>
          </a:solidFill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4545"/>
                </a:solidFill>
              </a:rPr>
              <a:t>Numerická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3236976"/>
            <a:ext cx="2103120" cy="502920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4545"/>
                </a:solidFill>
              </a:rPr>
              <a:t>xG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3236976"/>
            <a:ext cx="2103120" cy="502920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4545"/>
                </a:solidFill>
              </a:rPr>
              <a:t>Očekávaná pravděpodobnost gólu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3236976"/>
            <a:ext cx="2103120" cy="502920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4545"/>
                </a:solidFill>
              </a:rPr>
              <a:t>Numerická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3803904"/>
            <a:ext cx="2103120" cy="502920"/>
          </a:xfrm>
          <a:prstGeom prst="rect">
            <a:avLst/>
          </a:prstGeom>
          <a:solidFill>
            <a:srgbClr val="F0F4FF"/>
          </a:solidFill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4545"/>
                </a:solidFill>
              </a:rPr>
              <a:t>minute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803904"/>
            <a:ext cx="2103120" cy="502920"/>
          </a:xfrm>
          <a:prstGeom prst="rect">
            <a:avLst/>
          </a:prstGeom>
          <a:solidFill>
            <a:srgbClr val="F0F4FF"/>
          </a:solidFill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4545"/>
                </a:solidFill>
              </a:rPr>
              <a:t>Minuta zápasu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3803904"/>
            <a:ext cx="2103120" cy="502920"/>
          </a:xfrm>
          <a:prstGeom prst="rect">
            <a:avLst/>
          </a:prstGeom>
          <a:solidFill>
            <a:srgbClr val="F0F4FF"/>
          </a:solidFill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4545"/>
                </a:solidFill>
              </a:rPr>
              <a:t>Numerická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4370832"/>
            <a:ext cx="2103120" cy="502920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4545"/>
                </a:solidFill>
              </a:rPr>
              <a:t>shotType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4370832"/>
            <a:ext cx="2103120" cy="502920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4545"/>
                </a:solidFill>
              </a:rPr>
              <a:t>Typ zakončení (Foot/Head)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4370832"/>
            <a:ext cx="2103120" cy="502920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4545"/>
                </a:solidFill>
              </a:rPr>
              <a:t>Kategorická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4937759"/>
            <a:ext cx="2103120" cy="502920"/>
          </a:xfrm>
          <a:prstGeom prst="rect">
            <a:avLst/>
          </a:prstGeom>
          <a:solidFill>
            <a:srgbClr val="F0F4FF"/>
          </a:solidFill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4545"/>
                </a:solidFill>
              </a:rPr>
              <a:t>situation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4937759"/>
            <a:ext cx="2103120" cy="502920"/>
          </a:xfrm>
          <a:prstGeom prst="rect">
            <a:avLst/>
          </a:prstGeom>
          <a:solidFill>
            <a:srgbClr val="F0F4FF"/>
          </a:solidFill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4545"/>
                </a:solidFill>
              </a:rPr>
              <a:t>Herní situace (OpenPlay, ...)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4937759"/>
            <a:ext cx="2103120" cy="502920"/>
          </a:xfrm>
          <a:prstGeom prst="rect">
            <a:avLst/>
          </a:prstGeom>
          <a:solidFill>
            <a:srgbClr val="F0F4FF"/>
          </a:solidFill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4545"/>
                </a:solidFill>
              </a:rPr>
              <a:t>Kategorická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26480" y="5504688"/>
            <a:ext cx="2103120" cy="502920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4545"/>
                </a:solidFill>
              </a:rPr>
              <a:t>goal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5504688"/>
            <a:ext cx="2103120" cy="502920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4545"/>
                </a:solidFill>
              </a:rPr>
              <a:t>Cílová proměnná (1 = gól)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5504688"/>
            <a:ext cx="2103120" cy="502920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4545"/>
                </a:solidFill>
              </a:rPr>
              <a:t>Binární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54545"/>
                </a:solidFill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Předzpracování dat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" y="685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DDFF"/>
                </a:solidFill>
              </a:rPr>
              <a:t>🔧 Čistění, škálování, pravidlo 3-sigma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454545"/>
                </a:solidFill>
              </a:rPr>
              <a:t>●  Souřadnice X, Y: škálování 0→1 → 0→100 (fotbalové hřiště)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454545"/>
                </a:solidFill>
              </a:rPr>
              <a:t>●  Odvozeny: vzdálenost od branky (dist_m) a střelecký úhel (angle_deg)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454545"/>
                </a:solidFill>
              </a:rPr>
              <a:t>●  Chybějící X, Y: řádky vynechány (ne imputace – falešné střely)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454545"/>
                </a:solidFill>
              </a:rPr>
              <a:t>●  Kategorické NaN: nahrazeny hodnotou „Bez asistence" / „Neznamy"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454545"/>
                </a:solidFill>
              </a:rPr>
              <a:t>●  Pravidlo 3-sigma: vyřazeny odlehlé střely (|Z| &gt; 3) pro dist_m</a:t>
            </a:r>
          </a:p>
        </p:txBody>
      </p:sp>
      <p:pic>
        <p:nvPicPr>
          <p:cNvPr id="6" name="Picture 5" descr="01_mapa_str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051560"/>
            <a:ext cx="6675120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54545"/>
                </a:solidFill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Diagnostika normality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" y="685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DDFF"/>
                </a:solidFill>
              </a:rPr>
              <a:t>📐 Shapiro-Wilk, Q-Q grafy, Mahalanobis D²</a:t>
            </a:r>
          </a:p>
        </p:txBody>
      </p:sp>
      <p:pic>
        <p:nvPicPr>
          <p:cNvPr id="5" name="Picture 4" descr="02_normalita_histogramy_q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7772400" cy="48463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092440" y="1188720"/>
            <a:ext cx="3977639" cy="777240"/>
          </a:xfrm>
          <a:prstGeom prst="rect">
            <a:avLst/>
          </a:prstGeom>
          <a:solidFill>
            <a:srgbClr val="F8D7DA"/>
          </a:solidFill>
          <a:ln>
            <a:solidFill>
              <a:srgbClr val="C02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83879" y="1234440"/>
            <a:ext cx="379475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100" b="1">
                <a:solidFill>
                  <a:srgbClr val="454545"/>
                </a:solidFill>
              </a:rPr>
              <a:t>H₀: xG pochází z normálního rozdělení</a:t>
            </a:r>
          </a:p>
          <a:p>
            <a:pPr>
              <a:spcBef>
                <a:spcPts val="200"/>
              </a:spcBef>
            </a:pPr>
            <a:r>
              <a:rPr sz="1100" b="0">
                <a:solidFill>
                  <a:srgbClr val="454545"/>
                </a:solidFill>
              </a:rPr>
              <a:t>p = &lt; 0,001  |  α = 0,05</a:t>
            </a:r>
          </a:p>
          <a:p>
            <a:pPr>
              <a:spcBef>
                <a:spcPts val="200"/>
              </a:spcBef>
            </a:pPr>
            <a:r>
              <a:rPr sz="1200" b="1">
                <a:solidFill>
                  <a:srgbClr val="C02020"/>
                </a:solidFill>
              </a:rPr>
              <a:t>✗ H₀ ZAMÍTÁME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2440" y="2148840"/>
            <a:ext cx="3977639" cy="777240"/>
          </a:xfrm>
          <a:prstGeom prst="rect">
            <a:avLst/>
          </a:prstGeom>
          <a:solidFill>
            <a:srgbClr val="F8D7DA"/>
          </a:solidFill>
          <a:ln>
            <a:solidFill>
              <a:srgbClr val="C02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83879" y="2194560"/>
            <a:ext cx="379475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100" b="1">
                <a:solidFill>
                  <a:srgbClr val="454545"/>
                </a:solidFill>
              </a:rPr>
              <a:t>H₀: dist_m pochází z norm. rozdělení</a:t>
            </a:r>
          </a:p>
          <a:p>
            <a:pPr>
              <a:spcBef>
                <a:spcPts val="200"/>
              </a:spcBef>
            </a:pPr>
            <a:r>
              <a:rPr sz="1100" b="0">
                <a:solidFill>
                  <a:srgbClr val="454545"/>
                </a:solidFill>
              </a:rPr>
              <a:t>p = &lt; 0,001  |  α = 0,05</a:t>
            </a:r>
          </a:p>
          <a:p>
            <a:pPr>
              <a:spcBef>
                <a:spcPts val="200"/>
              </a:spcBef>
            </a:pPr>
            <a:r>
              <a:rPr sz="1200" b="1">
                <a:solidFill>
                  <a:srgbClr val="C02020"/>
                </a:solidFill>
              </a:rPr>
              <a:t>✗ H₀ ZAMÍTÁME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92440" y="3108960"/>
            <a:ext cx="3977639" cy="777240"/>
          </a:xfrm>
          <a:prstGeom prst="rect">
            <a:avLst/>
          </a:prstGeom>
          <a:solidFill>
            <a:srgbClr val="F8D7DA"/>
          </a:solidFill>
          <a:ln>
            <a:solidFill>
              <a:srgbClr val="C02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79" y="3154679"/>
            <a:ext cx="379475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100" b="1">
                <a:solidFill>
                  <a:srgbClr val="454545"/>
                </a:solidFill>
              </a:rPr>
              <a:t>H₀: angle_deg pochází z norm. rozdělení</a:t>
            </a:r>
          </a:p>
          <a:p>
            <a:pPr>
              <a:spcBef>
                <a:spcPts val="200"/>
              </a:spcBef>
            </a:pPr>
            <a:r>
              <a:rPr sz="1100" b="0">
                <a:solidFill>
                  <a:srgbClr val="454545"/>
                </a:solidFill>
              </a:rPr>
              <a:t>p = &lt; 0,001  |  α = 0,05</a:t>
            </a:r>
          </a:p>
          <a:p>
            <a:pPr>
              <a:spcBef>
                <a:spcPts val="200"/>
              </a:spcBef>
            </a:pPr>
            <a:r>
              <a:rPr sz="1200" b="1">
                <a:solidFill>
                  <a:srgbClr val="C02020"/>
                </a:solidFill>
              </a:rPr>
              <a:t>✗ H₀ ZAMÍTÁME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4114800"/>
            <a:ext cx="39776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2020"/>
                </a:solidFill>
              </a:rPr>
              <a:t>→ Normalita porušena → robustní/neparametrické metody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54545"/>
                </a:solidFill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Vztahy mezi proměnnými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" y="685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DDFF"/>
                </a:solidFill>
              </a:rPr>
              <a:t>🔗 Korelační analýza: Pearson &amp; Spearman</a:t>
            </a:r>
          </a:p>
        </p:txBody>
      </p:sp>
      <p:pic>
        <p:nvPicPr>
          <p:cNvPr id="5" name="Picture 4" descr="03_korelacni_heatma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841248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0" y="1280160"/>
            <a:ext cx="3337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454545"/>
                </a:solidFill>
              </a:rPr>
              <a:t>●  H₀: Korelace = 0  |  H₁: Korelace ≠ 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54545"/>
                </a:solidFill>
              </a:rPr>
              <a:t>●  xG ↔ dist_m: silná záporná korelace (blíže = větší xG)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54545"/>
                </a:solidFill>
              </a:rPr>
              <a:t>●  xG ↔ angle_deg: silná kladná korelace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54545"/>
                </a:solidFill>
              </a:rPr>
              <a:t>●  Spearmanova korelace robustnější při non-normalitě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54545"/>
                </a:solidFill>
              </a:rPr>
              <a:t>●  Všechny páry: p &lt; 0,001 → H₀ ZAMÍTÁME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54545"/>
                </a:solidFill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Rozdíly dle typu zakončení – ANOVA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" y="685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DDFF"/>
                </a:solidFill>
              </a:rPr>
              <a:t>⚽ Welchova ANOVA: vzdálenost a úhel</a:t>
            </a:r>
          </a:p>
        </p:txBody>
      </p:sp>
      <p:pic>
        <p:nvPicPr>
          <p:cNvPr id="5" name="Picture 4" descr="04_boxploty_shotty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841248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0" y="1280160"/>
            <a:ext cx="3337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454545"/>
                </a:solidFill>
              </a:rPr>
              <a:t>●  Skupiny: RightFoot, LeftFoot, Head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54545"/>
                </a:solidFill>
              </a:rPr>
              <a:t>●  H₀: Střední hodnoty jsou shodné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54545"/>
                </a:solidFill>
              </a:rPr>
              <a:t>●  Welchova ANOVA (robustní vůči rozptylům)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54545"/>
                </a:solidFill>
              </a:rPr>
              <a:t>●  dist_m: F &gt;&gt; 1, p &lt; 0,001 → H₀ ZAMÍTÁME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54545"/>
                </a:solidFill>
              </a:rPr>
              <a:t>●  angle_deg: F &gt;&gt; 1, p &lt; 0,001 → H₀ ZAMÍTÁME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54545"/>
                </a:solidFill>
              </a:rPr>
              <a:t>●  → Hlavičky jsou z větší vzdálenosti, nižší úhel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54545"/>
                </a:solidFill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MANOVA a Tukeyho post-hoc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" y="685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DDFF"/>
                </a:solidFill>
              </a:rPr>
              <a:t>🎯 Vícerozměrné porovnání skupin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454545"/>
                </a:solidFill>
              </a:rPr>
              <a:t>●  MANOVA: sdružený test (dist_m + angle_deg) ~ shotType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454545"/>
                </a:solidFill>
              </a:rPr>
              <a:t>●  Zachycuje korelaci mezi závislými proměnnými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454545"/>
                </a:solidFill>
              </a:rPr>
              <a:t>●  Wilksova lambda: p &lt; 0,001 → H₀ ZAMÍTÁME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454545"/>
                </a:solidFill>
              </a:rPr>
              <a:t>●  → Zakončení se liší jak vzdáleností, tak úhlem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454545"/>
                </a:solidFill>
              </a:rPr>
              <a:t>●  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454545"/>
                </a:solidFill>
              </a:rPr>
              <a:t>●  Tukeyho HSD post-hoc test identifikuje konkrétní páry: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454545"/>
                </a:solidFill>
              </a:rPr>
              <a:t>●  • Head vs. RightFoot: statisticky významný rozdíl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454545"/>
                </a:solidFill>
              </a:rPr>
              <a:t>●  • Head vs. LeftFoot: statisticky významný rozdíl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454545"/>
                </a:solidFill>
              </a:rPr>
              <a:t>●  • RightFoot vs. LeftFoot: bez signifikantního rozdílu</a:t>
            </a:r>
          </a:p>
        </p:txBody>
      </p:sp>
      <p:sp>
        <p:nvSpPr>
          <p:cNvPr id="6" name="Rectangle 5"/>
          <p:cNvSpPr/>
          <p:nvPr/>
        </p:nvSpPr>
        <p:spPr>
          <a:xfrm>
            <a:off x="8138160" y="1828800"/>
            <a:ext cx="3840480" cy="868680"/>
          </a:xfrm>
          <a:prstGeom prst="rect">
            <a:avLst/>
          </a:prstGeom>
          <a:solidFill>
            <a:srgbClr val="F8D7DA"/>
          </a:solidFill>
          <a:ln>
            <a:solidFill>
              <a:srgbClr val="C02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0" y="1874519"/>
            <a:ext cx="3657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100" b="1">
                <a:solidFill>
                  <a:srgbClr val="454545"/>
                </a:solidFill>
              </a:rPr>
              <a:t>H₀: Vektory středních hodnot jsou shodné (MANOVA)</a:t>
            </a:r>
          </a:p>
          <a:p>
            <a:pPr>
              <a:spcBef>
                <a:spcPts val="200"/>
              </a:spcBef>
            </a:pPr>
            <a:r>
              <a:rPr sz="1100" b="0">
                <a:solidFill>
                  <a:srgbClr val="454545"/>
                </a:solidFill>
              </a:rPr>
              <a:t>p = &lt; 0,001 (Wilks λ)  |  α = 0,05</a:t>
            </a:r>
          </a:p>
          <a:p>
            <a:pPr>
              <a:spcBef>
                <a:spcPts val="200"/>
              </a:spcBef>
            </a:pPr>
            <a:r>
              <a:rPr sz="1200" b="1">
                <a:solidFill>
                  <a:srgbClr val="C02020"/>
                </a:solidFill>
              </a:rPr>
              <a:t>✗ H₀ ZAMÍTÁME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2926080"/>
            <a:ext cx="3840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54545"/>
                </a:solidFill>
              </a:rPr>
              <a:t>📌 Praktická interpretace:
Hlavičky se provádí z větší vzdálenosti a z horší pozice
→ nižší střelecký úhel → nižší šance na gól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54545"/>
                </a:solidFill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Redukce dimenzionality – PCA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" y="685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DDFF"/>
                </a:solidFill>
              </a:rPr>
              <a:t>📉 Analýza hlavních komponent</a:t>
            </a:r>
          </a:p>
        </p:txBody>
      </p:sp>
      <p:pic>
        <p:nvPicPr>
          <p:cNvPr id="5" name="Picture 4" descr="05_scree_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5669280" cy="3291840"/>
          </a:xfrm>
          <a:prstGeom prst="rect">
            <a:avLst/>
          </a:prstGeom>
        </p:spPr>
      </p:pic>
      <p:pic>
        <p:nvPicPr>
          <p:cNvPr id="6" name="Picture 5" descr="05b_biplot_p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051560"/>
            <a:ext cx="6035040" cy="34747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480560"/>
            <a:ext cx="5394960" cy="777240"/>
          </a:xfrm>
          <a:prstGeom prst="rect">
            <a:avLst/>
          </a:prstGeom>
          <a:solidFill>
            <a:srgbClr val="F8D7DA"/>
          </a:solidFill>
          <a:ln>
            <a:solidFill>
              <a:srgbClr val="C02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526280"/>
            <a:ext cx="5212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100" b="1">
                <a:solidFill>
                  <a:srgbClr val="454545"/>
                </a:solidFill>
              </a:rPr>
              <a:t>H₀: Korelační matice je jednotková (PCA nevhodná)</a:t>
            </a:r>
          </a:p>
          <a:p>
            <a:pPr>
              <a:spcBef>
                <a:spcPts val="200"/>
              </a:spcBef>
            </a:pPr>
            <a:r>
              <a:rPr sz="1100" b="0">
                <a:solidFill>
                  <a:srgbClr val="454545"/>
                </a:solidFill>
              </a:rPr>
              <a:t>p = &lt; 0,001  |  α = 0,05</a:t>
            </a:r>
          </a:p>
          <a:p>
            <a:pPr>
              <a:spcBef>
                <a:spcPts val="200"/>
              </a:spcBef>
            </a:pPr>
            <a:r>
              <a:rPr sz="1200" b="1">
                <a:solidFill>
                  <a:srgbClr val="C02020"/>
                </a:solidFill>
              </a:rPr>
              <a:t>✗ H₀ ZAMÍTÁME → PCA vhodná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4572000"/>
            <a:ext cx="60350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454545"/>
                </a:solidFill>
              </a:rPr>
              <a:t>●  Kaiserovo pravidlo (λ &gt; 1): 2 hlavní komponenty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54545"/>
                </a:solidFill>
              </a:rPr>
              <a:t>●  PC1 ≈ „kvalita střelecké pozice" (vzdálenost, xG, úhel)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54545"/>
                </a:solidFill>
              </a:rPr>
              <a:t>●  PC2 ≈ „poloha na hřišti" (Y souřadnice, minuta)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54545"/>
                </a:solidFill>
              </a:rPr>
              <a:t>●  Kumulativní rozptyl PC1+PC2 ≈ 65–70 %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54545"/>
                </a:solidFill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Shluková analýza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" y="685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DDFF"/>
                </a:solidFill>
              </a:rPr>
              <a:t>🔵 Hierarchické shlukování + K-means (k=2)</a:t>
            </a:r>
          </a:p>
        </p:txBody>
      </p:sp>
      <p:pic>
        <p:nvPicPr>
          <p:cNvPr id="5" name="Picture 4" descr="06_dendr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5577840" cy="3108960"/>
          </a:xfrm>
          <a:prstGeom prst="rect">
            <a:avLst/>
          </a:prstGeom>
        </p:spPr>
      </p:pic>
      <p:pic>
        <p:nvPicPr>
          <p:cNvPr id="6" name="Picture 5" descr="06b_mapa_shluk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051560"/>
            <a:ext cx="612648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4297680"/>
            <a:ext cx="5577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454545"/>
                </a:solidFill>
              </a:rPr>
              <a:t>●  H₀: Střely tvoří homogenní rozdělení (žádné shluky)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54545"/>
                </a:solidFill>
              </a:rPr>
              <a:t>●  Wardův dendrogram: přirozený řez na k = 2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54545"/>
                </a:solidFill>
              </a:rPr>
              <a:t>●  Shluk 1: Blízké střely z vápna – vyšší xG, kratší vzdálenost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54545"/>
                </a:solidFill>
              </a:rPr>
              <a:t>●  Shluk 2: Střelba z dálky – nízká šance gólu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54545"/>
                </a:solidFill>
              </a:rPr>
              <a:t>●  → H₁ potvrzena: v datech existují přirozeně oddělené shluky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54545"/>
                </a:solidFill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Predikce gólu – logistická regrese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" y="685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DDFF"/>
                </a:solidFill>
              </a:rPr>
              <a:t>📈 Binární klasifikace: gól (1) / bez gólu (0)</a:t>
            </a:r>
          </a:p>
        </p:txBody>
      </p:sp>
      <p:pic>
        <p:nvPicPr>
          <p:cNvPr id="5" name="Picture 4" descr="07_roc_kriv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029200" cy="3840480"/>
          </a:xfrm>
          <a:prstGeom prst="rect">
            <a:avLst/>
          </a:prstGeom>
        </p:spPr>
      </p:pic>
      <p:pic>
        <p:nvPicPr>
          <p:cNvPr id="6" name="Picture 5" descr="07b_forest_p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1097280"/>
            <a:ext cx="6583680" cy="39319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5029200"/>
            <a:ext cx="11704320" cy="777240"/>
          </a:xfrm>
          <a:prstGeom prst="rect">
            <a:avLst/>
          </a:prstGeom>
          <a:solidFill>
            <a:srgbClr val="F8D7DA"/>
          </a:solidFill>
          <a:ln>
            <a:solidFill>
              <a:srgbClr val="C02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074920"/>
            <a:ext cx="11521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100" b="1">
                <a:solidFill>
                  <a:srgbClr val="454545"/>
                </a:solidFill>
              </a:rPr>
              <a:t>H₀: Žádný parametr neovlivňuje šanci na gól (všechna β = 0)</a:t>
            </a:r>
          </a:p>
          <a:p>
            <a:pPr>
              <a:spcBef>
                <a:spcPts val="200"/>
              </a:spcBef>
            </a:pPr>
            <a:r>
              <a:rPr sz="1100" b="0">
                <a:solidFill>
                  <a:srgbClr val="454545"/>
                </a:solidFill>
              </a:rPr>
              <a:t>p = &lt; 0,001  |  α = 0,05</a:t>
            </a:r>
          </a:p>
          <a:p>
            <a:pPr>
              <a:spcBef>
                <a:spcPts val="200"/>
              </a:spcBef>
            </a:pPr>
            <a:r>
              <a:rPr sz="1200" b="1">
                <a:solidFill>
                  <a:srgbClr val="C02020"/>
                </a:solidFill>
              </a:rPr>
              <a:t>✗ H₀ ZAMÍTÁME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5897880"/>
            <a:ext cx="11704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454545"/>
                </a:solidFill>
              </a:rPr>
              <a:t>●  OR dist_m &lt; 1: větší vzdálenost → nižší šance na gól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454545"/>
                </a:solidFill>
              </a:rPr>
              <a:t>●  OR xG &gt;&gt; 1: xG je nejsilnější prediktor (jak se očekávalo)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454545"/>
                </a:solidFill>
              </a:rPr>
              <a:t>●  AUC &gt; 0,80 → model výrazně lepší než náhodný odhad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54545"/>
                </a:solidFill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Souhrnná tabulka testovaných hypotéz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" y="685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DDFF"/>
                </a:solidFill>
              </a:rPr>
              <a:t>✅ Přehled všech statistických testů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" y="1051560"/>
            <a:ext cx="2926080" cy="347472"/>
          </a:xfrm>
          <a:prstGeom prst="rect">
            <a:avLst/>
          </a:prstGeom>
          <a:solidFill>
            <a:srgbClr val="1A376B"/>
          </a:solidFill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051560"/>
            <a:ext cx="3657600" cy="347472"/>
          </a:xfrm>
          <a:prstGeom prst="rect">
            <a:avLst/>
          </a:prstGeom>
          <a:solidFill>
            <a:srgbClr val="1A376B"/>
          </a:solidFill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H₀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051560"/>
            <a:ext cx="1828800" cy="347472"/>
          </a:xfrm>
          <a:prstGeom prst="rect">
            <a:avLst/>
          </a:prstGeom>
          <a:solidFill>
            <a:srgbClr val="1A376B"/>
          </a:solidFill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p-hodnota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051560"/>
            <a:ext cx="1554480" cy="347472"/>
          </a:xfrm>
          <a:prstGeom prst="rect">
            <a:avLst/>
          </a:prstGeom>
          <a:solidFill>
            <a:srgbClr val="1A376B"/>
          </a:solidFill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Verdikt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1051560"/>
            <a:ext cx="822960" cy="347472"/>
          </a:xfrm>
          <a:prstGeom prst="rect">
            <a:avLst/>
          </a:prstGeom>
          <a:solidFill>
            <a:srgbClr val="1A376B"/>
          </a:solidFill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" y="1399032"/>
            <a:ext cx="2926080" cy="438912"/>
          </a:xfrm>
          <a:prstGeom prst="rect">
            <a:avLst/>
          </a:prstGeom>
          <a:solidFill>
            <a:srgbClr val="F7F7F7"/>
          </a:solidFill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54545"/>
                </a:solidFill>
              </a:rPr>
              <a:t>Shapiro-Wilk (xG)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1399032"/>
            <a:ext cx="3657600" cy="438912"/>
          </a:xfrm>
          <a:prstGeom prst="rect">
            <a:avLst/>
          </a:prstGeom>
          <a:solidFill>
            <a:srgbClr val="F7F7F7"/>
          </a:solidFill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54545"/>
                </a:solidFill>
              </a:rPr>
              <a:t>xG ~ N(μ,σ²)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1399032"/>
            <a:ext cx="1828800" cy="438912"/>
          </a:xfrm>
          <a:prstGeom prst="rect">
            <a:avLst/>
          </a:prstGeom>
          <a:solidFill>
            <a:srgbClr val="F7F7F7"/>
          </a:solidFill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54545"/>
                </a:solidFill>
              </a:rPr>
              <a:t>&lt; 0,001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1399032"/>
            <a:ext cx="1554480" cy="438912"/>
          </a:xfrm>
          <a:prstGeom prst="rect">
            <a:avLst/>
          </a:prstGeom>
          <a:solidFill>
            <a:srgbClr val="F7F7F7"/>
          </a:solidFill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02020"/>
                </a:solidFill>
              </a:rPr>
              <a:t>✗ ZAMÍTÁME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0" y="1399032"/>
            <a:ext cx="822960" cy="438912"/>
          </a:xfrm>
          <a:prstGeom prst="rect">
            <a:avLst/>
          </a:prstGeom>
          <a:solidFill>
            <a:srgbClr val="F7F7F7"/>
          </a:solidFill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54545"/>
                </a:solidFill>
              </a:rPr>
              <a:t>0,05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" y="1874519"/>
            <a:ext cx="2926080" cy="438912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54545"/>
                </a:solidFill>
              </a:rPr>
              <a:t>Shapiro-Wilk (dist_m)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1874519"/>
            <a:ext cx="3657600" cy="438912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54545"/>
                </a:solidFill>
              </a:rPr>
              <a:t>dist_m ~ N(μ,σ²)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1874519"/>
            <a:ext cx="1828800" cy="438912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54545"/>
                </a:solidFill>
              </a:rPr>
              <a:t>&lt; 0,001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1874519"/>
            <a:ext cx="1554480" cy="438912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02020"/>
                </a:solidFill>
              </a:rPr>
              <a:t>✗ ZAMÍTÁME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1874519"/>
            <a:ext cx="822960" cy="438912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54545"/>
                </a:solidFill>
              </a:rPr>
              <a:t>0,05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" y="2350008"/>
            <a:ext cx="2926080" cy="438912"/>
          </a:xfrm>
          <a:prstGeom prst="rect">
            <a:avLst/>
          </a:prstGeom>
          <a:solidFill>
            <a:srgbClr val="F7F7F7"/>
          </a:solidFill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54545"/>
                </a:solidFill>
              </a:rPr>
              <a:t>Levene (rozptyly)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2350008"/>
            <a:ext cx="3657600" cy="438912"/>
          </a:xfrm>
          <a:prstGeom prst="rect">
            <a:avLst/>
          </a:prstGeom>
          <a:solidFill>
            <a:srgbClr val="F7F7F7"/>
          </a:solidFill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54545"/>
                </a:solidFill>
              </a:rPr>
              <a:t>σ² dist_m stejné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2350008"/>
            <a:ext cx="1828800" cy="438912"/>
          </a:xfrm>
          <a:prstGeom prst="rect">
            <a:avLst/>
          </a:prstGeom>
          <a:solidFill>
            <a:srgbClr val="F7F7F7"/>
          </a:solidFill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54545"/>
                </a:solidFill>
              </a:rPr>
              <a:t>&lt; 0,001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2350008"/>
            <a:ext cx="1554480" cy="438912"/>
          </a:xfrm>
          <a:prstGeom prst="rect">
            <a:avLst/>
          </a:prstGeom>
          <a:solidFill>
            <a:srgbClr val="F7F7F7"/>
          </a:solidFill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02020"/>
                </a:solidFill>
              </a:rPr>
              <a:t>✗ ZAMÍTÁME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2350008"/>
            <a:ext cx="822960" cy="438912"/>
          </a:xfrm>
          <a:prstGeom prst="rect">
            <a:avLst/>
          </a:prstGeom>
          <a:solidFill>
            <a:srgbClr val="F7F7F7"/>
          </a:solidFill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54545"/>
                </a:solidFill>
              </a:rPr>
              <a:t>0,05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" y="2825496"/>
            <a:ext cx="2926080" cy="438912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54545"/>
                </a:solidFill>
              </a:rPr>
              <a:t>Pearson/Spearman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2825496"/>
            <a:ext cx="3657600" cy="438912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54545"/>
                </a:solidFill>
              </a:rPr>
              <a:t>xG ↔ dist_m: r = 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2825496"/>
            <a:ext cx="1828800" cy="438912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54545"/>
                </a:solidFill>
              </a:rPr>
              <a:t>&lt; 0,001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2825496"/>
            <a:ext cx="1554480" cy="438912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02020"/>
                </a:solidFill>
              </a:rPr>
              <a:t>✗ ZAMÍTÁME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2825496"/>
            <a:ext cx="822960" cy="438912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54545"/>
                </a:solidFill>
              </a:rPr>
              <a:t>0,05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4592" y="3300984"/>
            <a:ext cx="2926080" cy="438912"/>
          </a:xfrm>
          <a:prstGeom prst="rect">
            <a:avLst/>
          </a:prstGeom>
          <a:solidFill>
            <a:srgbClr val="F7F7F7"/>
          </a:solidFill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54545"/>
                </a:solidFill>
              </a:rPr>
              <a:t>Welch ANOVA (dist_m)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0" y="3300984"/>
            <a:ext cx="3657600" cy="438912"/>
          </a:xfrm>
          <a:prstGeom prst="rect">
            <a:avLst/>
          </a:prstGeom>
          <a:solidFill>
            <a:srgbClr val="F7F7F7"/>
          </a:solidFill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54545"/>
                </a:solidFill>
              </a:rPr>
              <a:t>Střed. vzdálenosti = eq.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0" y="3300984"/>
            <a:ext cx="1828800" cy="438912"/>
          </a:xfrm>
          <a:prstGeom prst="rect">
            <a:avLst/>
          </a:prstGeom>
          <a:solidFill>
            <a:srgbClr val="F7F7F7"/>
          </a:solidFill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54545"/>
                </a:solidFill>
              </a:rPr>
              <a:t>&lt; 0,001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0" y="3300984"/>
            <a:ext cx="1554480" cy="438912"/>
          </a:xfrm>
          <a:prstGeom prst="rect">
            <a:avLst/>
          </a:prstGeom>
          <a:solidFill>
            <a:srgbClr val="F7F7F7"/>
          </a:solidFill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02020"/>
                </a:solidFill>
              </a:rPr>
              <a:t>✗ ZAMÍTÁME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41280" y="3300984"/>
            <a:ext cx="822960" cy="438912"/>
          </a:xfrm>
          <a:prstGeom prst="rect">
            <a:avLst/>
          </a:prstGeom>
          <a:solidFill>
            <a:srgbClr val="F7F7F7"/>
          </a:solidFill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54545"/>
                </a:solidFill>
              </a:rPr>
              <a:t>0,05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4592" y="3776472"/>
            <a:ext cx="2926080" cy="438912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54545"/>
                </a:solidFill>
              </a:rPr>
              <a:t>Welch ANOVA (angle_deg)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3776472"/>
            <a:ext cx="3657600" cy="438912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54545"/>
                </a:solidFill>
              </a:rPr>
              <a:t>Střed. úhly = eq.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0" y="3776472"/>
            <a:ext cx="1828800" cy="438912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54545"/>
                </a:solidFill>
              </a:rPr>
              <a:t>&lt; 0,001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3776472"/>
            <a:ext cx="1554480" cy="438912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02020"/>
                </a:solidFill>
              </a:rPr>
              <a:t>✗ ZAMÍTÁME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41280" y="3776472"/>
            <a:ext cx="822960" cy="438912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54545"/>
                </a:solidFill>
              </a:rPr>
              <a:t>0,05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4592" y="4251960"/>
            <a:ext cx="2926080" cy="438912"/>
          </a:xfrm>
          <a:prstGeom prst="rect">
            <a:avLst/>
          </a:prstGeom>
          <a:solidFill>
            <a:srgbClr val="F7F7F7"/>
          </a:solidFill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54545"/>
                </a:solidFill>
              </a:rPr>
              <a:t>MANOVA (Wilks λ)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0" y="4251960"/>
            <a:ext cx="3657600" cy="438912"/>
          </a:xfrm>
          <a:prstGeom prst="rect">
            <a:avLst/>
          </a:prstGeom>
          <a:solidFill>
            <a:srgbClr val="F7F7F7"/>
          </a:solidFill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54545"/>
                </a:solidFill>
              </a:rPr>
              <a:t>Vektory středních = eq.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0" y="4251960"/>
            <a:ext cx="1828800" cy="438912"/>
          </a:xfrm>
          <a:prstGeom prst="rect">
            <a:avLst/>
          </a:prstGeom>
          <a:solidFill>
            <a:srgbClr val="F7F7F7"/>
          </a:solidFill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54545"/>
                </a:solidFill>
              </a:rPr>
              <a:t>&lt; 0,001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4251960"/>
            <a:ext cx="1554480" cy="438912"/>
          </a:xfrm>
          <a:prstGeom prst="rect">
            <a:avLst/>
          </a:prstGeom>
          <a:solidFill>
            <a:srgbClr val="F7F7F7"/>
          </a:solidFill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02020"/>
                </a:solidFill>
              </a:rPr>
              <a:t>✗ ZAMÍTÁME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241280" y="4251960"/>
            <a:ext cx="822960" cy="438912"/>
          </a:xfrm>
          <a:prstGeom prst="rect">
            <a:avLst/>
          </a:prstGeom>
          <a:solidFill>
            <a:srgbClr val="F7F7F7"/>
          </a:solidFill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54545"/>
                </a:solidFill>
              </a:rPr>
              <a:t>0,05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4592" y="4727448"/>
            <a:ext cx="2926080" cy="438912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54545"/>
                </a:solidFill>
              </a:rPr>
              <a:t>Bartlettův test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00400" y="4727448"/>
            <a:ext cx="3657600" cy="438912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54545"/>
                </a:solidFill>
              </a:rPr>
              <a:t>Kor. mat. = I (PCA nev.)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0" y="4727448"/>
            <a:ext cx="1828800" cy="438912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54545"/>
                </a:solidFill>
              </a:rPr>
              <a:t>&lt; 0,001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0" y="4727448"/>
            <a:ext cx="1554480" cy="438912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02020"/>
                </a:solidFill>
              </a:rPr>
              <a:t>✗ ZAMÍTÁME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41280" y="4727448"/>
            <a:ext cx="822960" cy="438912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54545"/>
                </a:solidFill>
              </a:rPr>
              <a:t>0,05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64592" y="5202936"/>
            <a:ext cx="2926080" cy="438912"/>
          </a:xfrm>
          <a:prstGeom prst="rect">
            <a:avLst/>
          </a:prstGeom>
          <a:solidFill>
            <a:srgbClr val="F7F7F7"/>
          </a:solidFill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54545"/>
                </a:solidFill>
              </a:rPr>
              <a:t>Logist. reg. (dist_m)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00400" y="5202936"/>
            <a:ext cx="3657600" cy="438912"/>
          </a:xfrm>
          <a:prstGeom prst="rect">
            <a:avLst/>
          </a:prstGeom>
          <a:solidFill>
            <a:srgbClr val="F7F7F7"/>
          </a:solidFill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54545"/>
                </a:solidFill>
              </a:rPr>
              <a:t>β_dist = 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0" y="5202936"/>
            <a:ext cx="1828800" cy="438912"/>
          </a:xfrm>
          <a:prstGeom prst="rect">
            <a:avLst/>
          </a:prstGeom>
          <a:solidFill>
            <a:srgbClr val="F7F7F7"/>
          </a:solidFill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54545"/>
                </a:solidFill>
              </a:rPr>
              <a:t>&lt; 0,001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5202936"/>
            <a:ext cx="1554480" cy="438912"/>
          </a:xfrm>
          <a:prstGeom prst="rect">
            <a:avLst/>
          </a:prstGeom>
          <a:solidFill>
            <a:srgbClr val="F7F7F7"/>
          </a:solidFill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02020"/>
                </a:solidFill>
              </a:rPr>
              <a:t>✗ ZAMÍTÁME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241280" y="5202936"/>
            <a:ext cx="822960" cy="438912"/>
          </a:xfrm>
          <a:prstGeom prst="rect">
            <a:avLst/>
          </a:prstGeom>
          <a:solidFill>
            <a:srgbClr val="F7F7F7"/>
          </a:solidFill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54545"/>
                </a:solidFill>
              </a:rPr>
              <a:t>0,05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64592" y="5678424"/>
            <a:ext cx="2926080" cy="438912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54545"/>
                </a:solidFill>
              </a:rPr>
              <a:t>Logist. reg. (xG)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00400" y="5678424"/>
            <a:ext cx="3657600" cy="438912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54545"/>
                </a:solidFill>
              </a:rPr>
              <a:t>β_xG = 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0" y="5678424"/>
            <a:ext cx="1828800" cy="438912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54545"/>
                </a:solidFill>
              </a:rPr>
              <a:t>&lt; 0,001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686800" y="5678424"/>
            <a:ext cx="1554480" cy="438912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02020"/>
                </a:solidFill>
              </a:rPr>
              <a:t>✗ ZAMÍTÁME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41280" y="5678424"/>
            <a:ext cx="822960" cy="438912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54545"/>
                </a:solidFill>
              </a:rPr>
              <a:t>0,05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54545"/>
                </a:solidFill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7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Závěr a fotbalová interpretace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AACCFF"/>
                </a:solidFill>
              </a:rPr>
              <a:t>Co analýza říká trenérům a analytikům?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280160"/>
            <a:ext cx="11457432" cy="27432"/>
          </a:xfrm>
          <a:prstGeom prst="rect">
            <a:avLst/>
          </a:prstGeom>
          <a:solidFill>
            <a:srgbClr val="28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417320"/>
            <a:ext cx="114300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EEEEFF"/>
                </a:solidFill>
              </a:rPr>
              <a:t>  🎯  Vzdálenost a úhel střely jsou klíčové prediktory úspěšnosti – střely z vápna mají výrazně vyšší xG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EEEEFF"/>
                </a:solidFill>
              </a:rPr>
              <a:t>  🦵  Typ zakončení (noha vs. hlava) statisticky významně ovlivňuje geometrii střely (MANOVA, p &lt; 0,001)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EEEEFF"/>
                </a:solidFill>
              </a:rPr>
              <a:t>  📉  PCA odhalila „osu kvality pozice" (PC1 = xG, vzdálenost, úhel) – 2 komponenty vysvětlují ~70 % variability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EEEEFF"/>
                </a:solidFill>
              </a:rPr>
              <a:t>  🔵  Shlukování potvrdilo dva přirozené herní profily: střely z vápna (šance &gt; 15 %) vs. střelba z dálky (&lt; 5 %)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EEEEFF"/>
                </a:solidFill>
              </a:rPr>
              <a:t>  📈  Logistická regrese s AUC &gt; 0,80 – model spolehlivě předpovídá gól z fyzikálních parametrů střely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EEEEFF"/>
                </a:solidFill>
              </a:rPr>
              <a:t>  💡  Doporučení: Zaměřte tréninková zakončení na střely z první třetiny pokutového území s úhlem &gt; 30°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0080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AACC"/>
                </a:solidFill>
              </a:rPr>
              <a:t>Děkuji za pozornost  |  MPC VMM 2026/27  |  VUT Brno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54545"/>
                </a:solidFill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