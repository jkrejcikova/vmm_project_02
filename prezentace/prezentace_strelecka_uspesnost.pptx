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Střelecká úspěšnost ve fotbale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0604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666666"/>
                </a:solidFill>
              </a:rPr>
              <a:t>Vícerozměrná statistická analýza dat střel z anglické Premier League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337560"/>
            <a:ext cx="6702552" cy="1828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1188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</a:rPr>
              <a:t>Vysoké učení technické v Brně  •  Vícerozměrné statistické metody (VMM)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Semestrální projekt  •  Akademický rok 2026/27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Zdroj dat: shots_outcome_Final.csv (understat.com)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</a:rPr>
              <a:t>Popis datasetu a cíl analýzy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Základní přehled datové sady a sledovaných proměnných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b_hist_x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852160" cy="3963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325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Datový soubor obsahuje 1 000 střel z Premier League (po vyřazení OwnGoal 998 střel).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Cílová proměnná: Binární výsledek střely (Gól = 1 s podílem 9,0 %, Nezakončeno = 0).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Klíčové metriky: Geometrie střely (X, Y, vzdálenost, úhel) a herní kontext (xG, minuta, shotType).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Vyřazena technická metadata (ID zápasů, hráčů a datumy) nemající přímý vliv na trajektorii.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434840"/>
            <a:ext cx="4572000" cy="1691640"/>
          </a:xfrm>
          <a:prstGeom prst="rect">
            <a:avLst/>
          </a:prstGeom>
          <a:solidFill>
            <a:srgbClr val="F0FDF4"/>
          </a:solidFill>
          <a:ln w="12700">
            <a:solidFill>
              <a:srgbClr val="C3E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4526279"/>
            <a:ext cx="4297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Výzkumný cíl semestrálního projektu:</a:t>
            </a:r>
          </a:p>
          <a:p>
            <a:pPr>
              <a:spcBef>
                <a:spcPts val="300"/>
              </a:spcBef>
            </a:pPr>
            <a:r>
              <a:rPr b="1" sz="1050">
                <a:solidFill>
                  <a:srgbClr val="1A1A1A"/>
                </a:solidFill>
              </a:rPr>
              <a:t>H₀: </a:t>
            </a:r>
            <a:r>
              <a:rPr sz="1050">
                <a:solidFill>
                  <a:srgbClr val="333333"/>
                </a:solidFill>
              </a:rPr>
              <a:t>Pravděpodobnost gólu nezávisí na prostorových a geometrických faktorech střely.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66666"/>
                </a:solidFill>
              </a:rPr>
              <a:t>Sada dat: n = 734 kompletních prostorových střel | sledováno 6 spojitých metrik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76749"/>
                </a:solidFill>
              </a:rPr>
              <a:t>✓ Cíl: Identifikovat klíčové faktory zakončení pomocí vícerozměrných metod.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</a:rPr>
              <a:t>Předzpracování dat a mapa střel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Čištění, škálování hřiště 100×100 a ošetření odlehlých hodnot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mapa_st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852160" cy="40984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325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Škálování souřadnic X a Y na jednotné fotbalové hřiště 100 × 100 jednotek.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Odvození geometrických veličin: Vzdálenost od branky (dist_m) a střelecký úhel (angle_deg).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Ošetření chybějících hodnot: Vynechání řádků bez X a Y (žádná falešná imputace v ose).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Pravidlo 3-sigma (Z-skóre): Odstraněna 1 extrémní střela z vlastní poloviny (|Z| &gt; 3).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434840"/>
            <a:ext cx="4572000" cy="1691640"/>
          </a:xfrm>
          <a:prstGeom prst="rect">
            <a:avLst/>
          </a:prstGeom>
          <a:solidFill>
            <a:srgbClr val="FDF2F2"/>
          </a:solidFill>
          <a:ln w="12700">
            <a:solidFill>
              <a:srgbClr val="F5C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4526279"/>
            <a:ext cx="4297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Metodické ošetření odlehlých hodnot:</a:t>
            </a:r>
          </a:p>
          <a:p>
            <a:pPr>
              <a:spcBef>
                <a:spcPts val="300"/>
              </a:spcBef>
            </a:pPr>
            <a:r>
              <a:rPr b="1" sz="1050">
                <a:solidFill>
                  <a:srgbClr val="1A1A1A"/>
                </a:solidFill>
              </a:rPr>
              <a:t>H₀: </a:t>
            </a:r>
            <a:r>
              <a:rPr sz="1050">
                <a:solidFill>
                  <a:srgbClr val="333333"/>
                </a:solidFill>
              </a:rPr>
              <a:t>Odlehlá pozorování vzdálenosti dist_m pochází ze stejného rozdělení jako běžné střely.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66666"/>
                </a:solidFill>
              </a:rPr>
              <a:t>Kritérium 3-sigma: |Z(dist_m)| &gt; 3 | Vyřazen 1 extrém (vzdálenost &gt; 42 j.)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53030"/>
                </a:solidFill>
              </a:rPr>
              <a:t>✗ Čistá analytická sada: n = 734 střel s validními prostorovými souřadnicemi.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</a:rPr>
              <a:t>Diagnostika normality a předpokladů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Testování jednorozměrné normality klíčové veličiny dist_m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normalita_histogramy_q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852160" cy="2431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325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Shapiro-Wilkův test prokázal statisticky vysoce významné porušení normality (p &lt; 0,001).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Q-Q diagram i empirický histogram vykazují zřetelné asymetrické odchylky v koncových kvantilech.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Leveneho test potvrdil heteroskedasticitu rozptylů mezi skupinami zakončení (p &lt; 0,001).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Metodický závěr: Porušení předpokladů formálně zdůvodňuje volbu robustních metod.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434840"/>
            <a:ext cx="4572000" cy="1691640"/>
          </a:xfrm>
          <a:prstGeom prst="rect">
            <a:avLst/>
          </a:prstGeom>
          <a:solidFill>
            <a:srgbClr val="FDF2F2"/>
          </a:solidFill>
          <a:ln w="12700">
            <a:solidFill>
              <a:srgbClr val="F5C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4526279"/>
            <a:ext cx="4297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Shapiro-Wilkův test normality (dist_m):</a:t>
            </a:r>
          </a:p>
          <a:p>
            <a:pPr>
              <a:spcBef>
                <a:spcPts val="300"/>
              </a:spcBef>
            </a:pPr>
            <a:r>
              <a:rPr b="1" sz="1050">
                <a:solidFill>
                  <a:srgbClr val="1A1A1A"/>
                </a:solidFill>
              </a:rPr>
              <a:t>H₀: </a:t>
            </a:r>
            <a:r>
              <a:rPr sz="1050">
                <a:solidFill>
                  <a:srgbClr val="333333"/>
                </a:solidFill>
              </a:rPr>
              <a:t>Vzdálenost střely dist_m pochází z normálního rozdělení N(μ, σ²).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66666"/>
                </a:solidFill>
              </a:rPr>
              <a:t>W = 0,9842 | p = 7,15 × 10⁻⁷ | Hladina významnosti α = 0,05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53030"/>
                </a:solidFill>
              </a:rPr>
              <a:t>✗ H₀ ZAMÍTÁME na hladině α = 0,05 (nutné robustní postupy).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</a:rPr>
              <a:t>Vztahy mezi proměnnými (Korelace)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Plná Spearmanova korelační matice mezi spojitými metrikami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korelacni_heat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669280" cy="49477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325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Spearmanova pořadová korelace zvolena jako robustní vůči prokázané ne-normalitě dat.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Silná záporná vazba xG ↔ dist_m (r = −0,73): Čím větší vzdálenost od branky, tím nižší xG.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Kladná závislost xG ↔ angle_deg (r = +0,44): Větší střelecký úhel zásadně zvyšuje kvalitu šance.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Minuta zápasu a šířková pozice Y nevykazují žádnou přímou lineární korelaci s úspěšností.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434840"/>
            <a:ext cx="4572000" cy="1691640"/>
          </a:xfrm>
          <a:prstGeom prst="rect">
            <a:avLst/>
          </a:prstGeom>
          <a:solidFill>
            <a:srgbClr val="FDF2F2"/>
          </a:solidFill>
          <a:ln w="12700">
            <a:solidFill>
              <a:srgbClr val="F5C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4526279"/>
            <a:ext cx="4297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Test významnosti korelačního koeficientu (xG ↔ dist_m):</a:t>
            </a:r>
          </a:p>
          <a:p>
            <a:pPr>
              <a:spcBef>
                <a:spcPts val="300"/>
              </a:spcBef>
            </a:pPr>
            <a:r>
              <a:rPr b="1" sz="1050">
                <a:solidFill>
                  <a:srgbClr val="1A1A1A"/>
                </a:solidFill>
              </a:rPr>
              <a:t>H₀: </a:t>
            </a:r>
            <a:r>
              <a:rPr sz="1050">
                <a:solidFill>
                  <a:srgbClr val="333333"/>
                </a:solidFill>
              </a:rPr>
              <a:t>Mezi očekávanou hodnotou xG a vzdáleností není závislost (r = 0).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66666"/>
                </a:solidFill>
              </a:rPr>
              <a:t>Spearmanovo r = −0,732 | t-statistika = −29,1 | p &lt; 0,001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53030"/>
                </a:solidFill>
              </a:rPr>
              <a:t>✗ H₀ ZAMÍTÁME na hladině α = 0,05 (vazba je statisticky významná).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</a:rPr>
              <a:t>Rozdíly dle typu zakončení (ANOVA)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Jednofaktorová Welchova ANOVA pro vzdálenost a střelecký úhel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boxploty_shot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852160" cy="24694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325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Porovnávané skupiny zakončení: Pravá noha (n=285), Levá noha (n=272), Hlava (n=48).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Vzhledem k heteroskedasticitě (Levene p &lt; 0,001) použita robustní Welchova ANOVA.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Vzdálenost střely se mezi typy zakončení statisticky vysoce významně liší (p &lt; 0,001).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Střelecký úhel vykazuje rovněž masivní rozdíl: Hlavičky vznikají z horších úhlů.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434840"/>
            <a:ext cx="4572000" cy="1691640"/>
          </a:xfrm>
          <a:prstGeom prst="rect">
            <a:avLst/>
          </a:prstGeom>
          <a:solidFill>
            <a:srgbClr val="FDF2F2"/>
          </a:solidFill>
          <a:ln w="12700">
            <a:solidFill>
              <a:srgbClr val="F5C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4526279"/>
            <a:ext cx="4297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Welchova ANOVA (vzdálenost dist_m dle typu zakončení):</a:t>
            </a:r>
          </a:p>
          <a:p>
            <a:pPr>
              <a:spcBef>
                <a:spcPts val="300"/>
              </a:spcBef>
            </a:pPr>
            <a:r>
              <a:rPr b="1" sz="1050">
                <a:solidFill>
                  <a:srgbClr val="1A1A1A"/>
                </a:solidFill>
              </a:rPr>
              <a:t>H₀: </a:t>
            </a:r>
            <a:r>
              <a:rPr sz="1050">
                <a:solidFill>
                  <a:srgbClr val="333333"/>
                </a:solidFill>
              </a:rPr>
              <a:t>Střední hodnoty vzdálenosti jsou pro všechny typy zakončení stejné (μ₁ = μ₂ = μ₃).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66666"/>
                </a:solidFill>
              </a:rPr>
              <a:t>Welchovo F = 193,0 | stupně volnosti: 2; 107,3 | p = 7,47 × 10⁻⁴⁶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53030"/>
                </a:solidFill>
              </a:rPr>
              <a:t>✗ H₀ ZAMÍTÁME na hladině α = 0,05 (střední hodnoty se liší).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</a:rPr>
              <a:t>Vícerozměrné porovnání (MANOVA a Tukey)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Sdružený vliv na vektor [dist_m, angle_deg] a párová porovnání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b_tukey_h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852160" cy="2431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325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MANOVA hodnotí sdružený vektor (vzdálenost + úhel) a zohledňuje jejich korelaci.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Wilksova lambda (p &lt; 0,001) potvrzuje vícerozměrný rozdíl mezi způsoby zakončení.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Tukeyho HSD test odhalil, že Hlava se zásadně liší od obou nohou (Δ dist ≈ +11 j., Δ úhel ≈ −22°).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Mezi pravou a levou nohou nebyl nalezen žádný statisticky významný rozdíl (p = 0,22).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434840"/>
            <a:ext cx="4572000" cy="1691640"/>
          </a:xfrm>
          <a:prstGeom prst="rect">
            <a:avLst/>
          </a:prstGeom>
          <a:solidFill>
            <a:srgbClr val="FDF2F2"/>
          </a:solidFill>
          <a:ln w="12700">
            <a:solidFill>
              <a:srgbClr val="F5C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4526279"/>
            <a:ext cx="4297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Multivariátní test MANOVA (Wilksova lambda):</a:t>
            </a:r>
          </a:p>
          <a:p>
            <a:pPr>
              <a:spcBef>
                <a:spcPts val="300"/>
              </a:spcBef>
            </a:pPr>
            <a:r>
              <a:rPr b="1" sz="1050">
                <a:solidFill>
                  <a:srgbClr val="1A1A1A"/>
                </a:solidFill>
              </a:rPr>
              <a:t>H₀: </a:t>
            </a:r>
            <a:r>
              <a:rPr sz="1050">
                <a:solidFill>
                  <a:srgbClr val="333333"/>
                </a:solidFill>
              </a:rPr>
              <a:t>Vektory středních hodnot [vzdálenost, úhel] jsou pro všechny typy zakončení shodné.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66666"/>
                </a:solidFill>
              </a:rPr>
              <a:t>Wilks' λ = 0,8060 | F = 34,22 | p = 4,44 × 10⁻²⁷ (α = 0,05)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53030"/>
                </a:solidFill>
              </a:rPr>
              <a:t>✗ H₀ ZAMÍTÁME na hladině α = 0,05 (geometrie zakončení hlavou je odlišná).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</a:rPr>
              <a:t>Redukce dimenzionality (PCA)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Analýza hlavních komponent na standardizovaných datech (Z-skóre)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b_biplot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852160" cy="4750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325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Bartlettův test sférickosti (p &lt; 0,001) i KMO index (0,62) potvrdily smysluplnost PCA.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Kaiserovo pravidlo (vlastní číslo λ &gt; 1) doporučuje zachovat 2 hlavní komponenty.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PC1 (~48 % rozptylu) definuje „osu kvality střelecké pozice" (vzdálenost vs. úhel a xG).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PC2 (~20 % rozptylu) zachycuje umístění na šířku hřiště (Y) a vývoj herního času.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434840"/>
            <a:ext cx="4572000" cy="1691640"/>
          </a:xfrm>
          <a:prstGeom prst="rect">
            <a:avLst/>
          </a:prstGeom>
          <a:solidFill>
            <a:srgbClr val="FDF2F2"/>
          </a:solidFill>
          <a:ln w="12700">
            <a:solidFill>
              <a:srgbClr val="F5C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4526279"/>
            <a:ext cx="4297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Bartlettův test sférickosti pro ověření vhodnosti PCA:</a:t>
            </a:r>
          </a:p>
          <a:p>
            <a:pPr>
              <a:spcBef>
                <a:spcPts val="300"/>
              </a:spcBef>
            </a:pPr>
            <a:r>
              <a:rPr b="1" sz="1050">
                <a:solidFill>
                  <a:srgbClr val="1A1A1A"/>
                </a:solidFill>
              </a:rPr>
              <a:t>H₀: </a:t>
            </a:r>
            <a:r>
              <a:rPr sz="1050">
                <a:solidFill>
                  <a:srgbClr val="333333"/>
                </a:solidFill>
              </a:rPr>
              <a:t>Korelační matice sledovaných veličin je jednotková matice (proměnné jsou nekorelované).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66666"/>
                </a:solidFill>
              </a:rPr>
              <a:t>χ² = 2041,4 | stupně volnosti: df = 15 | p &lt; 0,001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53030"/>
                </a:solidFill>
              </a:rPr>
              <a:t>✗ H₀ ZAMÍTÁME na hladině α = 0,05 (redukce dimenze je statisticky oprávněná).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</a:rPr>
              <a:t>Shluková analýza – Profily střel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Hierarchické shlukování (Ward) a K-means pro k =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b_mapa_shlu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852160" cy="3855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325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Wardova hierarchická metoda indikovala optimální rozpad dat na 2 zřetelné shluky.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Shluk 1 (Blízká střela / vápno): Průměrná vzdálenost 13 j., vyšší úhel i podíl gólů.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Shluk 2 (Střelba z dálky): Průměrná vzdálenost 25 j., nízké xG, minimální efektivita.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Nalezené shluky odpovídají přirozeným herním profilům fotbalových zakončení.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434840"/>
            <a:ext cx="4572000" cy="1691640"/>
          </a:xfrm>
          <a:prstGeom prst="rect">
            <a:avLst/>
          </a:prstGeom>
          <a:solidFill>
            <a:srgbClr val="FDF2F2"/>
          </a:solidFill>
          <a:ln w="12700">
            <a:solidFill>
              <a:srgbClr val="F5C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4526279"/>
            <a:ext cx="4297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Test existence shlukové struktury v datech:</a:t>
            </a:r>
          </a:p>
          <a:p>
            <a:pPr>
              <a:spcBef>
                <a:spcPts val="300"/>
              </a:spcBef>
            </a:pPr>
            <a:r>
              <a:rPr b="1" sz="1050">
                <a:solidFill>
                  <a:srgbClr val="1A1A1A"/>
                </a:solidFill>
              </a:rPr>
              <a:t>H₀: </a:t>
            </a:r>
            <a:r>
              <a:rPr sz="1050">
                <a:solidFill>
                  <a:srgbClr val="333333"/>
                </a:solidFill>
              </a:rPr>
              <a:t>Střelecké pokusy tvoří homogenní rozdělení bez přirozených shluků.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66666"/>
                </a:solidFill>
              </a:rPr>
              <a:t>Wardovo kritérium minimálního rozptylu | K-means k = 2 rozdělení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53030"/>
                </a:solidFill>
              </a:rPr>
              <a:t>✗ H₀ ZAMÍTÁME (potvrzena existence 2 oddělitelných herních profilů střel).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</a:rPr>
              <a:t>Predikce gólu – Logistická regrese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Binární model šance na vstřelení branky a poměry šancí (Odds Ratios)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b_forest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852160" cy="28785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325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Binární logistická regrese spolehlivě odhaduje pravděpodobnost gólu (LRT p &lt; 0,001).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Očekávané góly xG (OR ≈ 76,0, p &lt; 0,001) představují dominantní pozitivní faktor.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Vzdálenost dist_m (OR = 0,922, p = 0,029) statisticky významně snižuje šanci na gól.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50" b="1">
                <a:solidFill>
                  <a:srgbClr val="1F77B4"/>
                </a:solidFill>
              </a:rPr>
              <a:t>•  </a:t>
            </a:r>
            <a:r>
              <a:rPr sz="1350">
                <a:solidFill>
                  <a:srgbClr val="333333"/>
                </a:solidFill>
              </a:rPr>
              <a:t>Klasifikační schopnost modelu je vysoká: Plocha pod ROC křivkou dosahuje AUC = 0,784.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4434840"/>
            <a:ext cx="4572000" cy="1691640"/>
          </a:xfrm>
          <a:prstGeom prst="rect">
            <a:avLst/>
          </a:prstGeom>
          <a:solidFill>
            <a:srgbClr val="FDF2F2"/>
          </a:solidFill>
          <a:ln w="12700">
            <a:solidFill>
              <a:srgbClr val="F5C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4526279"/>
            <a:ext cx="4297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Globální test logistického modelu (Likelihood Ratio Test):</a:t>
            </a:r>
          </a:p>
          <a:p>
            <a:pPr>
              <a:spcBef>
                <a:spcPts val="300"/>
              </a:spcBef>
            </a:pPr>
            <a:r>
              <a:rPr b="1" sz="1050">
                <a:solidFill>
                  <a:srgbClr val="1A1A1A"/>
                </a:solidFill>
              </a:rPr>
              <a:t>H₀: </a:t>
            </a:r>
            <a:r>
              <a:rPr sz="1050">
                <a:solidFill>
                  <a:srgbClr val="333333"/>
                </a:solidFill>
              </a:rPr>
              <a:t>Žádný ze sledovaných parametrů neovlivňuje šanci na gól (všechna β = 0).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66666"/>
                </a:solidFill>
              </a:rPr>
              <a:t>LLR chí-kvadrát = 82,1 | p = 6,17 × 10⁻¹⁷ | ROC AUC = 0,784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C53030"/>
                </a:solidFill>
              </a:rPr>
              <a:t>✗ H₀ ZAMÍTÁME na hladině α = 0,05 (regresní model je statisticky významný).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</a:rPr>
              <a:t>Souhrnná tabulka testovaných hypotéz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Systematický přehled všech statistických rozhodnutí na hladině α = 0,05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28016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16736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Fáze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280160"/>
            <a:ext cx="173736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316736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Metoda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280160"/>
            <a:ext cx="338328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1316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Nulová hypotéza (H₀)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280160"/>
            <a:ext cx="137160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3167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Statistika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280160"/>
            <a:ext cx="10058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13167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p-hodnota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0" y="1280160"/>
            <a:ext cx="1490472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1316736"/>
            <a:ext cx="1399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Rozhodnutí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664208"/>
            <a:ext cx="128016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719072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2 – Normalita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1664208"/>
            <a:ext cx="173736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39" y="1719072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Shapiro-Wilk (dist_m)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1664208"/>
            <a:ext cx="338328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17190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dist_m pochází z normálního rozdělení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1664208"/>
            <a:ext cx="137160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17190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W = 0,984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1664208"/>
            <a:ext cx="100584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17190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7,15e−07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1664208"/>
            <a:ext cx="1490472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1719072"/>
            <a:ext cx="13990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53030"/>
                </a:solidFill>
              </a:rPr>
              <a:t>ZAMÍTÁME H₀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066544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121408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2 – Normalita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2066544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39" y="2121408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Shapiro-Wilk (xG)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2066544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39" y="21214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xG pochází z normálního rozdělení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2066544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21214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W = 0,549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2066544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5400" y="21214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6,34e−39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66960" y="2066544"/>
            <a:ext cx="14904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12680" y="2121408"/>
            <a:ext cx="13990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53030"/>
                </a:solidFill>
              </a:rPr>
              <a:t>ZAMÍTÁME H₀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2468880"/>
            <a:ext cx="128016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2523744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2 – Rozptyly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2468880"/>
            <a:ext cx="173736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48839" y="2523744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Leveneho test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0" y="2468880"/>
            <a:ext cx="338328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7639" y="252374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Rozptyly vzdálenosti jsou ve skupinách shodné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2468880"/>
            <a:ext cx="137160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252374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L = 10,997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69680" y="2468880"/>
            <a:ext cx="100584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15400" y="252374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4,55e−07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66960" y="2468880"/>
            <a:ext cx="1490472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12680" y="2523744"/>
            <a:ext cx="13990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53030"/>
                </a:solidFill>
              </a:rPr>
              <a:t>ZAMÍTÁME H₀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2871216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2926080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3 – Závislost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03120" y="287121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48839" y="292608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Spearmanův test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0" y="2871216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77639" y="29260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Korelace mezi xG a dist_m je nulová (r = 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06640" y="2871216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52360" y="29260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r = −0,732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69680" y="287121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15400" y="29260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&lt; 0,001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66960" y="2871216"/>
            <a:ext cx="14904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12680" y="2926080"/>
            <a:ext cx="13990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53030"/>
                </a:solidFill>
              </a:rPr>
              <a:t>ZAMÍTÁME H₀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3273552"/>
            <a:ext cx="128016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3328416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4 – Rozdíly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03120" y="3273552"/>
            <a:ext cx="173736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48839" y="3328416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Welch ANOVA (dist_m)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31920" y="3273552"/>
            <a:ext cx="338328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77639" y="332841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Střední vzdálenosti jsou pro typy zakončení stejné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06640" y="3273552"/>
            <a:ext cx="137160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52360" y="332841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F = 193,0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69680" y="3273552"/>
            <a:ext cx="100584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15400" y="33284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7,47e−46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66960" y="3273552"/>
            <a:ext cx="1490472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12680" y="3328416"/>
            <a:ext cx="13990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53030"/>
                </a:solidFill>
              </a:rPr>
              <a:t>ZAMÍTÁME H₀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3675888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" y="3730752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4 – Rozdíly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03120" y="3675888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148839" y="3730752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Welch ANOVA (angle)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31920" y="3675888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77639" y="37307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Střední úhly jsou pro typy zakončení stejné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06640" y="3675888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52360" y="37307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F = 39,06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69680" y="3675888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15400" y="373075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6,33e−14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966960" y="3675888"/>
            <a:ext cx="14904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012680" y="3730752"/>
            <a:ext cx="13990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53030"/>
                </a:solidFill>
              </a:rPr>
              <a:t>ZAMÍTÁME H₀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4078224"/>
            <a:ext cx="128016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77240" y="4133087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4 – Sdružené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103120" y="4078224"/>
            <a:ext cx="173736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148839" y="4133087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MANOVA (Wilks λ)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931920" y="4078224"/>
            <a:ext cx="338328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77639" y="4133087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Vektory středních hodnot jsou ve skupinách shodné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06640" y="4078224"/>
            <a:ext cx="137160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452360" y="4133087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λ = 0,806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869680" y="4078224"/>
            <a:ext cx="100584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15400" y="413308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4,44e−27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966960" y="4078224"/>
            <a:ext cx="1490472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012680" y="4133087"/>
            <a:ext cx="13990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53030"/>
                </a:solidFill>
              </a:rPr>
              <a:t>ZAMÍTÁME H₀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31520" y="448056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77240" y="4535424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5 – PCA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03120" y="4480560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148839" y="4535424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Bartlettův test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931920" y="4480560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977639" y="453542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Korelační matice je jednotková (PCA nevhodná)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06640" y="4480560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452360" y="453542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χ² = 2041,4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869680" y="448056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15400" y="453542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&lt; 0,001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966960" y="4480560"/>
            <a:ext cx="14904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012680" y="4535424"/>
            <a:ext cx="13990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53030"/>
                </a:solidFill>
              </a:rPr>
              <a:t>ZAMÍTÁME H₀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31520" y="4882896"/>
            <a:ext cx="128016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77240" y="4937759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6 – Shluky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103120" y="4882896"/>
            <a:ext cx="173736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148839" y="4937759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Wardovo shlukování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931920" y="4882896"/>
            <a:ext cx="338328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977639" y="4937759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Střely tvoří homogenní náhodné rozdělení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06640" y="4882896"/>
            <a:ext cx="137160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452360" y="4937759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Ward d² k=2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869680" y="4882896"/>
            <a:ext cx="100584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915400" y="493775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&lt; 0,001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966960" y="4882896"/>
            <a:ext cx="1490472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012680" y="4937759"/>
            <a:ext cx="13990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53030"/>
                </a:solidFill>
              </a:rPr>
              <a:t>ZAMÍTÁME H₀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31520" y="5285232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77240" y="5340096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7 – Regrese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103120" y="5285232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148839" y="5340096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Logit model (dist_m)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931920" y="5285232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977639" y="53400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Vzdálenost střely neovlivňuje šanci na gól (β = 0)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406640" y="5285232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452360" y="534009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z = −2,18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869680" y="5285232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915400" y="53400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0,029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66960" y="5285232"/>
            <a:ext cx="14904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012680" y="5340096"/>
            <a:ext cx="13990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53030"/>
                </a:solidFill>
              </a:rPr>
              <a:t>ZAMÍTÁME H₀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31520" y="5687568"/>
            <a:ext cx="128016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77240" y="5742432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7 – Regrese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103120" y="5687568"/>
            <a:ext cx="173736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148839" y="5742432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Logit model (xG)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931920" y="5687568"/>
            <a:ext cx="338328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977639" y="574243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Metrika xG neovlivňuje šanci na gól (β = 0)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406640" y="5687568"/>
            <a:ext cx="137160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452360" y="57424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z = 4,58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869680" y="5687568"/>
            <a:ext cx="100584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915400" y="57424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4,68e−06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966960" y="5687568"/>
            <a:ext cx="1490472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012680" y="5742432"/>
            <a:ext cx="13990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53030"/>
                </a:solidFill>
              </a:rPr>
              <a:t>ZAMÍTÁME H₀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</a:rPr>
              <a:t>Závěr a doporučení pro praxi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Klíčové analytické poznatky pro trenéry a datové analytiky fotbalu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371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024128"/>
          </a:xfrm>
          <a:prstGeom prst="rect">
            <a:avLst/>
          </a:prstGeom>
          <a:solidFill>
            <a:srgbClr val="F9FAFB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0241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</a:rPr>
              <a:t>1. Geometrická pozice rozhoduje o úspěchu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28216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Vzdálenost a střelecký úhel jsou dominantními faktory zakončení. Každý metr navíc významně sráží šanci na gól (Logit OR = 0,922). Základním principem moderního fotbalu musí být tvorba pozic z hloubky vápna.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0725912" cy="1024128"/>
          </a:xfrm>
          <a:prstGeom prst="rect">
            <a:avLst/>
          </a:prstGeom>
          <a:solidFill>
            <a:srgbClr val="F9FAFB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73152" cy="10241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</a:rPr>
              <a:t>2. Hlavičky představují specifickou disciplínu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71216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MANOVA i Tukeyho test potvrdily, že zakončení hlavou probíhá z větších vzdáleností a z méně výhodných úhlů. Hlavičkové souboje vyžadují odlišné tréninkové schéma a cílené centry do bezprostřední blízkosti branky.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11880"/>
            <a:ext cx="10725912" cy="1024128"/>
          </a:xfrm>
          <a:prstGeom prst="rect">
            <a:avLst/>
          </a:prstGeom>
          <a:solidFill>
            <a:srgbClr val="F9FAFB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611880"/>
            <a:ext cx="73152" cy="10241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0332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</a:rPr>
              <a:t>3. Existence dvou přirozených herních světů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14216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Shluková analýza jednoznačně potvrdila 2 herní profily: Vysoce efektivní střely z vápna (prům. 13 j.) vs. nízkoefektivní střelba z dálky (prům. 25 j.), která v moderní analytice vede k plýtvání držením míče.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5912" cy="1024128"/>
          </a:xfrm>
          <a:prstGeom prst="rect">
            <a:avLst/>
          </a:prstGeom>
          <a:solidFill>
            <a:srgbClr val="F9FAFB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754880"/>
            <a:ext cx="73152" cy="102412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4632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</a:rPr>
              <a:t>4. Praktická doporučení pro tréninkový proces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157216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Soustředit zakončení na první třetinu pokutového území s úhlem &gt; 30°. Zakázat neuvážené střely z dálky v přechodové fázi a preferovat finální přihrávku do výhodnějšího střeleckého úhlu.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66666"/>
                </a:solidFill>
              </a:rPr>
              <a:t>Děkuji za pozornost  •  Semestrální projekt VMM 2026/27  •  VUT Brno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