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Střelecká úspěšnost ve fotbale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0604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666666"/>
                </a:solidFill>
              </a:rPr>
              <a:t>Vícerozměrná statistická analýza dat střel z anglické Premier League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337560"/>
            <a:ext cx="6702552" cy="1828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725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33333"/>
                </a:solidFill>
              </a:rPr>
              <a:t>Vysoké učení technické v Brně  •  Vícerozměrné statistické metody (VMM)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6908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</a:rPr>
              <a:t>Semestrální projekt  •  Akademický rok 2026/27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72200"/>
            <a:ext cx="10725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</a:rPr>
              <a:t>Zdroj dat: shots_outcome_Final.csv (understat.com)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Popis datasetu &amp; cíl analýzy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</a:rPr>
              <a:t>Základní přehled sledovaných veličin a cíl projektu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b_hist_x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217920" cy="42155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86600" y="1234440"/>
            <a:ext cx="4526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Datový soubor obsahuje 1 000 střel z Premier League (998 po vyřazení OwnGoal).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Cílová binární proměnná: Gól = 1 (podíl 9,0 %) vs. Nezakončeno = 0 (91,0 %).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Klíčové metriky: Geometrie střely (X, Y, vzdálenost, úhel) a herní kontext (xG, minuta, typ zakončení).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Vyřazena technická metadata (ID zápasů, hráčů a datumy) nemající přímý vliv na trajektorii.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4343400"/>
            <a:ext cx="4526280" cy="1783080"/>
          </a:xfrm>
          <a:prstGeom prst="rect">
            <a:avLst/>
          </a:prstGeom>
          <a:solidFill>
            <a:srgbClr val="F0FDF4"/>
          </a:solidFill>
          <a:ln w="12700">
            <a:solidFill>
              <a:srgbClr val="C3E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4434840"/>
            <a:ext cx="4251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Výzkumný cíl semestrálního projektu: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1A1A1A"/>
                </a:solidFill>
              </a:rPr>
              <a:t>H₀: </a:t>
            </a:r>
            <a:r>
              <a:rPr sz="1050">
                <a:solidFill>
                  <a:srgbClr val="333333"/>
                </a:solidFill>
              </a:rPr>
              <a:t>Pravděpodobnost gólu nezávisí na prostorových a geometrických faktorech střely.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66666"/>
                </a:solidFill>
              </a:rPr>
              <a:t>Sada dat: n = 734 kompletních prostorových střel | sledováno 6 spojitých metrik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276749"/>
                </a:solidFill>
              </a:rPr>
              <a:t>✓ Cíl: Identifikovat klíčové faktory zakončení pomocí vícerozměrných metod.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Předzpracování dat &amp; mapa střel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</a:rPr>
              <a:t>Škálování hřiště 100×100 a ošetření odlehlých hodnot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mapa_str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217920" cy="44798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86600" y="1234440"/>
            <a:ext cx="4526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Škálování prostorových souřadnic X a Y na fotbalové hřiště 100 × 100 jednotek.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Odvození geometrických veličin: Vzdálenost od branky (dist_m) a střelecký úhel (angle_deg).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Ošetření chybějících hodnot: Vynechání řádků bez X a Y (žádná falešná imputace v ose hřiště).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Pravidlo 3-sigma (Z-skóre): Odstraněna 1 extrémní střela z vlastní poloviny (|Z| &gt; 3); sada n = 734.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4343400"/>
            <a:ext cx="4526280" cy="1783080"/>
          </a:xfrm>
          <a:prstGeom prst="rect">
            <a:avLst/>
          </a:prstGeom>
          <a:solidFill>
            <a:srgbClr val="FDF2F2"/>
          </a:solidFill>
          <a:ln w="12700">
            <a:solidFill>
              <a:srgbClr val="F5C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4434840"/>
            <a:ext cx="4251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Metodické ošetření odlehlých hodnot (Pravidlo 3-sigma):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1A1A1A"/>
                </a:solidFill>
              </a:rPr>
              <a:t>H₀: </a:t>
            </a:r>
            <a:r>
              <a:rPr sz="1050">
                <a:solidFill>
                  <a:srgbClr val="333333"/>
                </a:solidFill>
              </a:rPr>
              <a:t>Odlehlá pozorování vzdálenosti dist_m pochází ze stejného rozdělení jako běžné střely.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66666"/>
                </a:solidFill>
              </a:rPr>
              <a:t>Kritérium: |Z(dist_m)| &gt; 3 | Vyřazen 1 extrém (vzdálenost &gt; 42 j.)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C53030"/>
                </a:solidFill>
              </a:rPr>
              <a:t>✗ Validní analytická sada: n = 734 střel s věrohodnou prostorovou geometrií.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Diagnostika normality &amp; předpokladů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</a:rPr>
              <a:t>Jednorozměrná normalita (histogram, opravený Q-Q graf probplot) a Leveneho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normalita_histogramy_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217920" cy="25216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86600" y="1234440"/>
            <a:ext cx="4526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Shapiro-Wilkův test prokázal statisticky vysoce významné porušení normality (p &lt; 0,001).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Opravený Q-Q diagram (scipy probplot) odhaluje výrazné odchylky v koncových kvantilech.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Leveneho test potvrdil heteroskedasticitu rozptylů mezi skupinami zakončení (p &lt; 0,001).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Metodický závěr: Porušení předpokladů zdůvodňuje volbu robustních a neparametrických metod.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4343400"/>
            <a:ext cx="4526280" cy="1783080"/>
          </a:xfrm>
          <a:prstGeom prst="rect">
            <a:avLst/>
          </a:prstGeom>
          <a:solidFill>
            <a:srgbClr val="FDF2F2"/>
          </a:solidFill>
          <a:ln w="12700">
            <a:solidFill>
              <a:srgbClr val="F5C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4434840"/>
            <a:ext cx="4251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Shapiro-Wilkův test normality (dist_m):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1A1A1A"/>
                </a:solidFill>
              </a:rPr>
              <a:t>H₀: </a:t>
            </a:r>
            <a:r>
              <a:rPr sz="1050">
                <a:solidFill>
                  <a:srgbClr val="333333"/>
                </a:solidFill>
              </a:rPr>
              <a:t>Vzdálenost střely dist_m pochází z normálního rozdělení N(μ, σ²).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66666"/>
                </a:solidFill>
              </a:rPr>
              <a:t>W = 0,9842 | p-hodnota = 7,15 × 10⁻⁷ | Hladina významnosti α = 0,05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C53030"/>
                </a:solidFill>
              </a:rPr>
              <a:t>✗ H₀ ZAMÍTÁME na hladině α = 0,05 (nutné robustní postupy).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Vztahy mezi proměnnými (Korelace)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</a:rPr>
              <a:t>Plná Spearmanova pořadová korelační matice mezi spojitými metrikami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korelacni_heat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217920" cy="54665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86600" y="1234440"/>
            <a:ext cx="4526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Spearmanova pořadová korelace zvolena jako robustní vůči prokázané ne-normalitě dat.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Silná záporná vazba xG ↔ dist_m (r = −0,73): Čím větší vzdálenost od branky, tím nižší šance na gól.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Kladná závislost xG ↔ angle_deg (r = +0,44): Větší střelecký úhel zásadně zvyšuje kvalitu šance.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Minuta zápasu a šířková pozice Y nevykazují žádnou přímou lineární korelaci s úspěšností.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4343400"/>
            <a:ext cx="4526280" cy="1783080"/>
          </a:xfrm>
          <a:prstGeom prst="rect">
            <a:avLst/>
          </a:prstGeom>
          <a:solidFill>
            <a:srgbClr val="FDF2F2"/>
          </a:solidFill>
          <a:ln w="12700">
            <a:solidFill>
              <a:srgbClr val="F5C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4434840"/>
            <a:ext cx="4251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Test významnosti korelačního koeficientu (xG ↔ dist_m):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1A1A1A"/>
                </a:solidFill>
              </a:rPr>
              <a:t>H₀: </a:t>
            </a:r>
            <a:r>
              <a:rPr sz="1050">
                <a:solidFill>
                  <a:srgbClr val="333333"/>
                </a:solidFill>
              </a:rPr>
              <a:t>Mezi očekávanou hodnotou xG a vzdáleností není závislost (r = 0).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66666"/>
                </a:solidFill>
              </a:rPr>
              <a:t>Spearmanovo r = −0,732 | t-statistika = −29,14 | p &lt; 0,001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C53030"/>
                </a:solidFill>
              </a:rPr>
              <a:t>✗ H₀ ZAMÍTÁME na hladině α = 0,05 (vazba je statisticky vysoce významná).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Porovnání skupin zakončení (ANOVA)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</a:rPr>
              <a:t>Jednofaktorová Welchova ANOVA pro vzdálenost a střelecký úhel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boxploty_shot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217920" cy="27220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86600" y="1234440"/>
            <a:ext cx="4526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Porovnávané skupiny zakončení: Pravá noha (n=285), Levá noha (n=272), Hlava (n=48).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Vzhledem k heteroskedasticitě (Levene p &lt; 0,001) použita robustní Welchova ANOVA.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Vzdálenost střely se mezi typy zakončení statisticky vysoce významně liší (p &lt; 0,001).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Střelecký úhel vykazuje rovněž masivní rozdíl: Hlavičky vznikají z horších úhlů.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4343400"/>
            <a:ext cx="4526280" cy="1783080"/>
          </a:xfrm>
          <a:prstGeom prst="rect">
            <a:avLst/>
          </a:prstGeom>
          <a:solidFill>
            <a:srgbClr val="FDF2F2"/>
          </a:solidFill>
          <a:ln w="12700">
            <a:solidFill>
              <a:srgbClr val="F5C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4434840"/>
            <a:ext cx="4251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Welchova ANOVA (vzdálenost dist_m dle typu zakončení):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1A1A1A"/>
                </a:solidFill>
              </a:rPr>
              <a:t>H₀: </a:t>
            </a:r>
            <a:r>
              <a:rPr sz="1050">
                <a:solidFill>
                  <a:srgbClr val="333333"/>
                </a:solidFill>
              </a:rPr>
              <a:t>Střední hodnoty vzdálenosti jsou pro všechny typy zakončení stejné (μ₁ = μ₂ = μ₃).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66666"/>
                </a:solidFill>
              </a:rPr>
              <a:t>Welchovo F = 193,0 | stupně volnosti: 2; 107,3 | p = 7,47 × 10⁻⁴⁶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C53030"/>
                </a:solidFill>
              </a:rPr>
              <a:t>✗ H₀ ZAMÍTÁME na hladině α = 0,05 (střední hodnoty se liší).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Vícerozměrné testy (MANOVA &amp; Tukey)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</a:rPr>
              <a:t>Sdružený vliv na vektor [dist_m, angle_deg] a párová porovnání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b_tukey_h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217920" cy="23825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86600" y="1234440"/>
            <a:ext cx="4526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MANOVA hodnotí sdružený vektor (vzdálenost + úhel) a zohledňuje jejich korelaci.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Wilksova lambda (p &lt; 0,001) potvrzuje vícerozměrný rozdíl mezi způsoby zakončení.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Tukeyho HSD test odhalil, že Hlava se zásadně liší od obou nohou (Δ dist ≈ +11 j., Δ úhel ≈ −22°).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Mezi pravou a levou nohou nebyl nalezen žádný statisticky významný rozdíl (p = 0,22 / 0,83).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4343400"/>
            <a:ext cx="4526280" cy="1783080"/>
          </a:xfrm>
          <a:prstGeom prst="rect">
            <a:avLst/>
          </a:prstGeom>
          <a:solidFill>
            <a:srgbClr val="FDF2F2"/>
          </a:solidFill>
          <a:ln w="12700">
            <a:solidFill>
              <a:srgbClr val="F5C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4434840"/>
            <a:ext cx="4251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Multivariátní test MANOVA (Wilksova lambda):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1A1A1A"/>
                </a:solidFill>
              </a:rPr>
              <a:t>H₀: </a:t>
            </a:r>
            <a:r>
              <a:rPr sz="1050">
                <a:solidFill>
                  <a:srgbClr val="333333"/>
                </a:solidFill>
              </a:rPr>
              <a:t>Vektory středních hodnot [vzdálenost, úhel] jsou pro všechny typy zakončení shodné.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66666"/>
                </a:solidFill>
              </a:rPr>
              <a:t>Wilks' λ = 0,8060 | F = 34,22 | p = 4,44 × 10⁻²⁷ (α = 0,05)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C53030"/>
                </a:solidFill>
              </a:rPr>
              <a:t>✗ H₀ ZAMÍTÁME na hladině α = 0,05 (geometrie zakončení hlavou je odlišná).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Redukce dimenzionality (PCA)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</a:rPr>
              <a:t>Analýza hlavních komponent na standardizovaných datech (Scree plot a Biplot)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b_biplot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217920" cy="50411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86600" y="1234440"/>
            <a:ext cx="4526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Bartlettův test sférickosti (p &lt; 0,001) i KMO index (0,62) potvrdily smysluplnost PCA.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Kaiserovo pravidlo (vlastní číslo λ &gt; 1) doporučuje zachovat 2 hlavní komponenty.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PC1 (~48 % rozptylu) definuje „osu kvality střelecké pozice" (vzdálenost vs. úhel a xG).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PC2 (~20 % rozptylu) zachycuje umístění na šířku hřiště (Y) a vývoj herního času.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4343400"/>
            <a:ext cx="4526280" cy="1783080"/>
          </a:xfrm>
          <a:prstGeom prst="rect">
            <a:avLst/>
          </a:prstGeom>
          <a:solidFill>
            <a:srgbClr val="FDF2F2"/>
          </a:solidFill>
          <a:ln w="12700">
            <a:solidFill>
              <a:srgbClr val="F5C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4434840"/>
            <a:ext cx="4251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Bartlettův test sférickosti pro ověření vhodnosti PCA: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1A1A1A"/>
                </a:solidFill>
              </a:rPr>
              <a:t>H₀: </a:t>
            </a:r>
            <a:r>
              <a:rPr sz="1050">
                <a:solidFill>
                  <a:srgbClr val="333333"/>
                </a:solidFill>
              </a:rPr>
              <a:t>Korelační matice sledovaných veličin je jednotková (proměnné jsou nekorelované).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66666"/>
                </a:solidFill>
              </a:rPr>
              <a:t>χ² = 2041,4 | stupně volnosti: df = 15 | p &lt; 0,001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C53030"/>
                </a:solidFill>
              </a:rPr>
              <a:t>✗ H₀ ZAMÍTÁME na hladině α = 0,05 (redukce dimenze je statisticky oprávněná).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Faktorová analýza (FA) s rotací Varimax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</a:rPr>
              <a:t>Přednáška VMM-9: Identifikace skrytých latentních faktorů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c_fa_varimax_loa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217920" cy="44537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86600" y="1234440"/>
            <a:ext cx="4526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Faktorová analýza odhaluje skryté kauzální faktory stojící za pozorovanými proměnnými.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Ortogonální rotace Varimax maximalizuje rozptyl zátěží a zpřehledňuje interpretaci.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Faktor 1 (Kvalita pozice): Vysoká zátěž úhlu (0,973), xG (0,574) a záporně dist_m (−0,674).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Faktor 2 (Herní hloubka): Dominuje podélná poloha X (0,961) a záporně vzdálenost (−0,652).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4343400"/>
            <a:ext cx="4526280" cy="1783080"/>
          </a:xfrm>
          <a:prstGeom prst="rect">
            <a:avLst/>
          </a:prstGeom>
          <a:solidFill>
            <a:srgbClr val="FDF2F2"/>
          </a:solidFill>
          <a:ln w="12700">
            <a:solidFill>
              <a:srgbClr val="F5C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4434840"/>
            <a:ext cx="4251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Interpretace faktorového modelu (Rotace Varimax):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1A1A1A"/>
                </a:solidFill>
              </a:rPr>
              <a:t>H₀: </a:t>
            </a:r>
            <a:r>
              <a:rPr sz="1050">
                <a:solidFill>
                  <a:srgbClr val="333333"/>
                </a:solidFill>
              </a:rPr>
              <a:t>V datech neexistuje skrytá faktorová struktura (všechny komunalitní zátěže = 0).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66666"/>
                </a:solidFill>
              </a:rPr>
              <a:t>Model se 2 faktory | Varimax kritérium jednoduché struktury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C53030"/>
                </a:solidFill>
              </a:rPr>
              <a:t>✗ H₀ ZAMÍTÁME (potvrzena existence 2 jasně interpretovatelných skrytých faktorů).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Nelineární redukce dimenze – t-SNE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</a:rPr>
              <a:t>Přednášky VMM-10 a VMM-11: Varietní mapování a lokální shluky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d_tsne_stre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217920" cy="48111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86600" y="1234440"/>
            <a:ext cx="4526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Metoda t-SNE (t-Distributed Stochastic Neighbor Embedding) zachovává lokální geometrii dat.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Na rozdíl od lineární PCA dokáže zachytit složité nelineární variety v prostoru střel.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Zobrazení ukazuje zřetelnou separaci úspěšných střel (gólů) v kompaktní lokální oblasti.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Vysvětlení: Góly vyžadují současné splnění nelineárních hraničních podmínek úhlu i vzdálenosti.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4343400"/>
            <a:ext cx="4526280" cy="1783080"/>
          </a:xfrm>
          <a:prstGeom prst="rect">
            <a:avLst/>
          </a:prstGeom>
          <a:solidFill>
            <a:srgbClr val="FDF2F2"/>
          </a:solidFill>
          <a:ln w="12700">
            <a:solidFill>
              <a:srgbClr val="F5C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4434840"/>
            <a:ext cx="4251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Test nelineární lokální shlukovosti (t-SNE vnoření):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1A1A1A"/>
                </a:solidFill>
              </a:rPr>
              <a:t>H₀: </a:t>
            </a:r>
            <a:r>
              <a:rPr sz="1050">
                <a:solidFill>
                  <a:srgbClr val="333333"/>
                </a:solidFill>
              </a:rPr>
              <a:t>Střely tvoří náhodné prostorové rozptýlení bez vnitřní nelineární struktury.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66666"/>
                </a:solidFill>
              </a:rPr>
              <a:t>Perplexity = 30 | Nelineární rozklad mnohorozměrných pravděpodobností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C53030"/>
                </a:solidFill>
              </a:rPr>
              <a:t>✗ H₀ ZAMÍTÁME (potvrzena existence specifické lokální sub-variety gólových situací).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Multikolinearita (VIF) &amp; Logistická regrese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</a:rPr>
              <a:t>Přednáška VMM-4: Diagnostika multikolinearity a model pravděpodobnosti gólu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b_forest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217920" cy="31847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86600" y="1234440"/>
            <a:ext cx="4526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Diagnostika VIF (Variance Inflation Factor): dist_m = 2,69, angle_deg = 2,87, xG = 1,74, minuta = 1,01.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Všechny VIF &lt; 3,0 bezpečně potvrzují nepřítomnost škodlivé multikolinearity (limit VIF &lt; 5).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Logistická regrese: Očekávané góly xG (OR ≈ 76,0, p &lt; 0,001) jsou nejsilnějším prediktorem.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Vzdálenost dist_m (OR = 0,922, p = 0,029) snižuje šanci na gól; kvalita modelu ROC AUC = 0,784.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4343400"/>
            <a:ext cx="4526280" cy="1783080"/>
          </a:xfrm>
          <a:prstGeom prst="rect">
            <a:avLst/>
          </a:prstGeom>
          <a:solidFill>
            <a:srgbClr val="FDF2F2"/>
          </a:solidFill>
          <a:ln w="12700">
            <a:solidFill>
              <a:srgbClr val="F5C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4434840"/>
            <a:ext cx="4251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Globální test logistického modelu (Likelihood Ratio Test):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1A1A1A"/>
                </a:solidFill>
              </a:rPr>
              <a:t>H₀: </a:t>
            </a:r>
            <a:r>
              <a:rPr sz="1050">
                <a:solidFill>
                  <a:srgbClr val="333333"/>
                </a:solidFill>
              </a:rPr>
              <a:t>Žádný ze sledovaných parametrů neovlivňuje šanci na gól (všechna β = 0).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66666"/>
                </a:solidFill>
              </a:rPr>
              <a:t>LLR chí-kvadrát = 82,1 | p = 6,17 × 10⁻¹⁷ | ROC AUC = 0,784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C53030"/>
                </a:solidFill>
              </a:rPr>
              <a:t>✗ H₀ ZAMÍTÁME na hladině α = 0,05 (regresní model je statisticky vysoce významný).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Shluková analýza – Profily zakončení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</a:rPr>
              <a:t>Hierarchická metoda (Wardův dendrogram) a K-means pro k =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b_mapa_shluk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217920" cy="44798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86600" y="1234440"/>
            <a:ext cx="4526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Wardova hierarchická metoda indikovala optimální rozpad dat na 2 zřetelné shluky.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Shluk 1 (Blízká střela / vápno): Průměrná vzdálenost 13 j., vyšší úhel i podíl gólů.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Shluk 2 (Střelba z dálky): Průměrná vzdálenost 25 j., nízké xG, minimální efektivita.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350" b="1">
                <a:solidFill>
                  <a:srgbClr val="1F77B4"/>
                </a:solidFill>
              </a:rPr>
              <a:t>•  </a:t>
            </a:r>
            <a:r>
              <a:rPr sz="1350">
                <a:solidFill>
                  <a:srgbClr val="333333"/>
                </a:solidFill>
              </a:rPr>
              <a:t>Nalezené shluky odpovídají přirozeným herním profilům fotbalových zakončení.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4343400"/>
            <a:ext cx="4526280" cy="1783080"/>
          </a:xfrm>
          <a:prstGeom prst="rect">
            <a:avLst/>
          </a:prstGeom>
          <a:solidFill>
            <a:srgbClr val="FDF2F2"/>
          </a:solidFill>
          <a:ln w="12700">
            <a:solidFill>
              <a:srgbClr val="F5C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4434840"/>
            <a:ext cx="4251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Test existence shlukové struktury v datech: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1A1A1A"/>
                </a:solidFill>
              </a:rPr>
              <a:t>H₀: </a:t>
            </a:r>
            <a:r>
              <a:rPr sz="1050">
                <a:solidFill>
                  <a:srgbClr val="333333"/>
                </a:solidFill>
              </a:rPr>
              <a:t>Střelecké pokusy tvoří homogenní rozdělení bez přirozených shluků.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66666"/>
                </a:solidFill>
              </a:rPr>
              <a:t>Wardovo kritérium minimálního rozptylu | K-means k = 2 rozdělení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C53030"/>
                </a:solidFill>
              </a:rPr>
              <a:t>✗ H₀ ZAMÍTÁME (potvrzena existence 2 oddělitelných herních profilů střel).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Souhrnná tabulka testovaných hypotéz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</a:rPr>
              <a:t>Systematický přehled všech statistických rozhodnutí na hladině α = 0,05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1325880" cy="32918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61872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Fáze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234440"/>
            <a:ext cx="1828800" cy="32918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79" y="12618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Metoda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0" y="1234440"/>
            <a:ext cx="3474720" cy="32918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1261872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Nulová hypotéza (H₀)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1234440"/>
            <a:ext cx="1371600" cy="32918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0" y="126187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Statistika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15400" y="1234440"/>
            <a:ext cx="1051560" cy="32918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261872"/>
            <a:ext cx="960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p-hodnota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0" y="1234440"/>
            <a:ext cx="1508760" cy="32918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04120" y="1261872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Rozhodnutí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609344"/>
            <a:ext cx="132588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655064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2 – Normalita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1609344"/>
            <a:ext cx="182880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79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Shapiro-Wilk (dist_m)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86200" y="1609344"/>
            <a:ext cx="347472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1655064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dist_m pochází z normálního rozdělení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52360" y="1609344"/>
            <a:ext cx="137160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0" y="165506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W = 0,9842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15400" y="1609344"/>
            <a:ext cx="105156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0" y="1655064"/>
            <a:ext cx="960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7,15e−07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0" y="1609344"/>
            <a:ext cx="150876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04120" y="1655064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1993392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039112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2 – Normalita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65960" y="1993392"/>
            <a:ext cx="1828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79" y="203911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Shapiro-Wilk (xG)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86200" y="1993392"/>
            <a:ext cx="3474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0" y="2039112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xG pochází z normálního rozdělení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52360" y="1993392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0" y="20391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W = 0,5485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15400" y="1993392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0" y="2039112"/>
            <a:ext cx="960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6,34e−39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00" y="1993392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2039112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2377440"/>
            <a:ext cx="132588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2423160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2 – Rozptyly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65960" y="2377440"/>
            <a:ext cx="182880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11679" y="2423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Leveneho test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86200" y="2377440"/>
            <a:ext cx="347472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31920" y="242316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Rozptyly vzdálenosti jsou ve skupinách shodné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52360" y="2377440"/>
            <a:ext cx="137160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98080" y="24231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L = 10,997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15400" y="2377440"/>
            <a:ext cx="105156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61120" y="2423160"/>
            <a:ext cx="960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4,55e−07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058400" y="2377440"/>
            <a:ext cx="150876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04120" y="2423160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2761488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2807208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3 – Závislost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65960" y="2761488"/>
            <a:ext cx="1828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11679" y="28072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Spearmanův test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86200" y="2761488"/>
            <a:ext cx="3474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31920" y="2807208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Korelace mezi xG a dist_m je nulová (r = 0)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52360" y="2761488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8080" y="28072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r = −0,732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15400" y="2761488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61120" y="2807208"/>
            <a:ext cx="960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&lt; 0,001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058400" y="2761488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104120" y="2807208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" y="3145536"/>
            <a:ext cx="132588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3191256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4 – Rozdíly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965960" y="3145536"/>
            <a:ext cx="182880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011679" y="319125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Welch ANOVA (dist_m)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886200" y="3145536"/>
            <a:ext cx="347472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931920" y="3191256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Střední vzdálenosti jsou pro typy zakončení stejné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452360" y="3145536"/>
            <a:ext cx="137160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498080" y="319125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F = 193,0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915400" y="3145536"/>
            <a:ext cx="105156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961120" y="3191256"/>
            <a:ext cx="960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7,47e−46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0" y="3145536"/>
            <a:ext cx="150876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104120" y="3191256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94360" y="3529584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3575304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4 – Rozdíly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965960" y="3529584"/>
            <a:ext cx="1828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11679" y="35753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Welch ANOVA (angle)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886200" y="3529584"/>
            <a:ext cx="3474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31920" y="3575304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Střední úhly jsou pro typy zakončení stejné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452360" y="3529584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498080" y="35753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F = 39,06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915400" y="3529584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961120" y="3575304"/>
            <a:ext cx="960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6,33e−14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058400" y="3529584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104120" y="3575304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94360" y="3913632"/>
            <a:ext cx="132588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0080" y="3959352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4 – Sdružené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965960" y="3913632"/>
            <a:ext cx="182880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011679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MANOVA (Wilks λ)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886200" y="3913632"/>
            <a:ext cx="347472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931920" y="3959352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Vektory středních hodnot jsou ve skupinách shodné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452360" y="3913632"/>
            <a:ext cx="137160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498080" y="39593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λ = 0,8060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915400" y="3913632"/>
            <a:ext cx="105156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61120" y="3959352"/>
            <a:ext cx="960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4,44e−27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058400" y="3913632"/>
            <a:ext cx="150876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104120" y="3959352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94360" y="4297680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0080" y="4343400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5 – PCA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965960" y="4297680"/>
            <a:ext cx="1828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011679" y="4343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Bartlettův test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886200" y="4297680"/>
            <a:ext cx="3474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931920" y="434340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Korelační matice je jednotková (PCA nevhodná)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452360" y="4297680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498080" y="4343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χ² = 2041,4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915400" y="4297680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961120" y="4343400"/>
            <a:ext cx="960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&lt; 0,001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0058400" y="4297680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0104120" y="4343400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94360" y="4681728"/>
            <a:ext cx="132588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0080" y="4727448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8 – Multikol.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965960" y="4681728"/>
            <a:ext cx="182880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011679" y="47274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Test VIF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886200" y="4681728"/>
            <a:ext cx="347472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931920" y="4727448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Prediktory netrpí škodlivou multikolinearitou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452360" y="4681728"/>
            <a:ext cx="137160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498080" y="47274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max VIF = 2,87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915400" y="4681728"/>
            <a:ext cx="105156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961120" y="4727448"/>
            <a:ext cx="960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VIF &lt; 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058400" y="4681728"/>
            <a:ext cx="150876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104120" y="4727448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276749"/>
                </a:solidFill>
              </a:rPr>
              <a:t>NEZAMÍTÁME H₀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94360" y="5065776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40080" y="5111496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8 – Regrese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965960" y="5065776"/>
            <a:ext cx="1828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011679" y="51114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Logit model (dist_m)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886200" y="5065776"/>
            <a:ext cx="3474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931920" y="5111496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Vzdálenost střely neovlivňuje šanci na gól (β = 0)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452360" y="5065776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498080" y="5111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z = −2,18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915400" y="5065776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961120" y="5111496"/>
            <a:ext cx="960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0,0294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058400" y="5065776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0104120" y="5111496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94360" y="5449824"/>
            <a:ext cx="132588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0080" y="5495544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8 – Regrese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965960" y="5449824"/>
            <a:ext cx="182880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011679" y="54955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Logit model (xG)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886200" y="5449824"/>
            <a:ext cx="347472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931920" y="5495544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Metrika xG neovlivňuje šanci na gól (β = 0)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452360" y="5449824"/>
            <a:ext cx="137160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498080" y="54955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z = 4,58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915400" y="5449824"/>
            <a:ext cx="105156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961120" y="5495544"/>
            <a:ext cx="960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4,68e−06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0058400" y="5449824"/>
            <a:ext cx="1508760" cy="347472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104120" y="5495544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94360" y="5833872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40080" y="5879592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9 – Shluky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965960" y="5833872"/>
            <a:ext cx="1828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2011679" y="58795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Wardovo shlukování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886200" y="5833872"/>
            <a:ext cx="3474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931920" y="5879592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Střely tvoří homogenní rozdělení bez shluků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452360" y="5833872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498080" y="58795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Ward d² k=2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915400" y="5833872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961120" y="5879592"/>
            <a:ext cx="960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&lt; 0,001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058400" y="5833872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104120" y="5879592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</a:rPr>
              <a:t>Závěr &amp; fotbalová doporučení pro trenéry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</a:rPr>
              <a:t>Syntéza vícerozměrné analýzy a praktické implikace pro herní praxi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10972800" cy="1051560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80160"/>
            <a:ext cx="73152" cy="105156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</a:rPr>
              <a:t>1. Geometrická pozice rozhoduje o úspěchu zakončení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82495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Vzdálenost a střelecký úhel jsou dominantními faktory zakončení. Každý metr navíc významně sráží šanci na gól (Logit OR = 0,922). Základním principem moderního fotbalu musí být tvorba pozic z hloubky vápna s otevřeným úhlem.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450591"/>
            <a:ext cx="10972800" cy="1051560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450591"/>
            <a:ext cx="73152" cy="105156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42032"/>
            <a:ext cx="10607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</a:rPr>
              <a:t>2. Hlavičky představují specifickou disciplínu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52927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MANOVA i Tukeyho test potvrdily, že zakončení hlavou probíhá z větších vzdáleností a z méně výhodných úhlů. Hlavičkové souboje vyžadují odlišné tréninkové schéma a cílené centry do bezprostřední blízkosti branky.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3621024"/>
            <a:ext cx="10972800" cy="1051560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621024"/>
            <a:ext cx="73152" cy="105156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12463"/>
            <a:ext cx="10607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</a:rPr>
              <a:t>3. Existence dvou přirozených herních světů (shluků)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Shluková analýza i nelineární t-SNE potvrdily 2 herní profily: Vysoce efektivní střely z vápna (prům. 13 j.) vs. nízkoefektivní střelba z dálky (prům. 25 j.), která v moderní analytice vede k plýtvání držením míče.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791456"/>
            <a:ext cx="10972800" cy="1051560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4791456"/>
            <a:ext cx="73152" cy="105156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882896"/>
            <a:ext cx="10607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</a:rPr>
              <a:t>4. Praktická doporučení pro trenérský a taktický proces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193792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Soustředit zakončení na první třetinu pokutového území s úhlem &gt; 30°. Eliminovat neuvážené střely z dálky v přechodové fázi a preferovat finální přihrávku do výhodnějšího střeleckého úhlu.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263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</a:rPr>
              <a:t>Děkuji za pozornost  •  Semestrální projekt VMM 2026/27  •  VUT Brno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